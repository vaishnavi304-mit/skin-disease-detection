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7" r:id="rId2"/>
    <p:sldId id="258" r:id="rId3"/>
    <p:sldId id="259" r:id="rId4"/>
    <p:sldId id="260" r:id="rId5"/>
    <p:sldId id="280" r:id="rId6"/>
    <p:sldId id="261" r:id="rId7"/>
    <p:sldId id="303" r:id="rId8"/>
    <p:sldId id="289" r:id="rId9"/>
    <p:sldId id="301" r:id="rId10"/>
    <p:sldId id="302" r:id="rId11"/>
    <p:sldId id="288" r:id="rId12"/>
    <p:sldId id="306" r:id="rId13"/>
    <p:sldId id="305" r:id="rId14"/>
    <p:sldId id="307" r:id="rId15"/>
    <p:sldId id="265" r:id="rId16"/>
    <p:sldId id="304" r:id="rId17"/>
    <p:sldId id="29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0FFC29C-24CF-44C7-9B8A-387DDE423E5A}">
          <p14:sldIdLst>
            <p14:sldId id="257"/>
            <p14:sldId id="258"/>
            <p14:sldId id="259"/>
            <p14:sldId id="260"/>
            <p14:sldId id="280"/>
            <p14:sldId id="261"/>
            <p14:sldId id="303"/>
            <p14:sldId id="289"/>
            <p14:sldId id="301"/>
            <p14:sldId id="302"/>
            <p14:sldId id="288"/>
            <p14:sldId id="306"/>
            <p14:sldId id="305"/>
            <p14:sldId id="307"/>
            <p14:sldId id="265"/>
            <p14:sldId id="304"/>
            <p14:sldId id="295"/>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5" autoAdjust="0"/>
    <p:restoredTop sz="88497" autoAdjust="0"/>
  </p:normalViewPr>
  <p:slideViewPr>
    <p:cSldViewPr snapToGrid="0">
      <p:cViewPr varScale="1">
        <p:scale>
          <a:sx n="73" d="100"/>
          <a:sy n="73" d="100"/>
        </p:scale>
        <p:origin x="1147"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5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48659"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E24123-06CE-4ED5-BF19-6D63B7BC3E4A}" type="datetimeFigureOut">
              <a:rPr lang="en-IN" smtClean="0"/>
              <a:t>20-04-2026</a:t>
            </a:fld>
            <a:endParaRPr lang="en-IN"/>
          </a:p>
        </p:txBody>
      </p:sp>
      <p:sp>
        <p:nvSpPr>
          <p:cNvPr id="1048660"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104866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6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1048663"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BED7C8-74DA-4F9B-AB6E-369BBE91E060}" type="slidenum">
              <a:rPr lang="en-IN" smtClean="0"/>
              <a:t>‹#›</a:t>
            </a:fld>
            <a:endParaRPr lang="en-IN"/>
          </a:p>
        </p:txBody>
      </p:sp>
    </p:spTree>
    <p:extLst>
      <p:ext uri="{BB962C8B-B14F-4D97-AF65-F5344CB8AC3E}">
        <p14:creationId xmlns:p14="http://schemas.microsoft.com/office/powerpoint/2010/main" val="1288329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6"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587"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588" name="Date Placeholder 3"/>
          <p:cNvSpPr>
            <a:spLocks noGrp="1"/>
          </p:cNvSpPr>
          <p:nvPr>
            <p:ph type="dt" sz="half" idx="10"/>
          </p:nvPr>
        </p:nvSpPr>
        <p:spPr/>
        <p:txBody>
          <a:bodyPr/>
          <a:lstStyle/>
          <a:p>
            <a:fld id="{E69EB334-E6BD-4DA4-B9FB-F106845FD303}" type="datetimeFigureOut">
              <a:rPr lang="en-IN" smtClean="0"/>
              <a:t>20-04-2026</a:t>
            </a:fld>
            <a:endParaRPr lang="en-IN"/>
          </a:p>
        </p:txBody>
      </p:sp>
      <p:sp>
        <p:nvSpPr>
          <p:cNvPr id="1048589" name="Footer Placeholder 4"/>
          <p:cNvSpPr>
            <a:spLocks noGrp="1"/>
          </p:cNvSpPr>
          <p:nvPr>
            <p:ph type="ftr" sz="quarter" idx="11"/>
          </p:nvPr>
        </p:nvSpPr>
        <p:spPr/>
        <p:txBody>
          <a:bodyPr/>
          <a:lstStyle/>
          <a:p>
            <a:endParaRPr lang="en-IN"/>
          </a:p>
        </p:txBody>
      </p:sp>
      <p:sp>
        <p:nvSpPr>
          <p:cNvPr id="1048590" name="Slide Number Placeholder 5"/>
          <p:cNvSpPr>
            <a:spLocks noGrp="1"/>
          </p:cNvSpPr>
          <p:nvPr>
            <p:ph type="sldNum" sz="quarter" idx="12"/>
          </p:nvPr>
        </p:nvSpPr>
        <p:spPr/>
        <p:txBody>
          <a:bodyPr/>
          <a:lstStyle/>
          <a:p>
            <a:fld id="{CDDEC9AC-FECC-4FB4-B44F-2440DFE7EC0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a:xfrm>
            <a:off x="0" y="1"/>
            <a:ext cx="12192000" cy="763480"/>
          </a:xfrm>
        </p:spPr>
        <p:txBody>
          <a:bodyPr/>
          <a:lstStyle>
            <a:lvl1pPr algn="ctr">
              <a:defRPr>
                <a:latin typeface="Arial" panose="020B0604020202020204" pitchFamily="34" charset="0"/>
                <a:cs typeface="Arial" panose="020B0604020202020204" pitchFamily="34" charset="0"/>
              </a:defRPr>
            </a:lvl1pPr>
          </a:lstStyle>
          <a:p>
            <a:endParaRPr lang="en-IN" dirty="0"/>
          </a:p>
        </p:txBody>
      </p:sp>
      <p:sp>
        <p:nvSpPr>
          <p:cNvPr id="1048582" name="Date Placeholder 3"/>
          <p:cNvSpPr>
            <a:spLocks noGrp="1"/>
          </p:cNvSpPr>
          <p:nvPr>
            <p:ph type="dt" sz="half" idx="10"/>
          </p:nvPr>
        </p:nvSpPr>
        <p:spPr/>
        <p:txBody>
          <a:bodyPr/>
          <a:lstStyle/>
          <a:p>
            <a:fld id="{E69EB334-E6BD-4DA4-B9FB-F106845FD303}" type="datetimeFigureOut">
              <a:rPr lang="en-IN" smtClean="0"/>
              <a:t>20-04-2026</a:t>
            </a:fld>
            <a:endParaRPr lang="en-IN"/>
          </a:p>
        </p:txBody>
      </p:sp>
      <p:sp>
        <p:nvSpPr>
          <p:cNvPr id="1048583" name="Footer Placeholder 4"/>
          <p:cNvSpPr>
            <a:spLocks noGrp="1"/>
          </p:cNvSpPr>
          <p:nvPr>
            <p:ph type="ftr" sz="quarter" idx="11"/>
          </p:nvPr>
        </p:nvSpPr>
        <p:spPr/>
        <p:txBody>
          <a:bodyPr/>
          <a:lstStyle>
            <a:lvl1pPr>
              <a:defRPr sz="1600" i="1"/>
            </a:lvl1pPr>
          </a:lstStyle>
          <a:p>
            <a:r>
              <a:rPr lang="en-IN"/>
              <a:t>School of Electrical Engineering</a:t>
            </a:r>
            <a:endParaRPr lang="en-IN" dirty="0"/>
          </a:p>
        </p:txBody>
      </p:sp>
      <p:sp>
        <p:nvSpPr>
          <p:cNvPr id="1048584" name="Slide Number Placeholder 5"/>
          <p:cNvSpPr>
            <a:spLocks noGrp="1"/>
          </p:cNvSpPr>
          <p:nvPr>
            <p:ph type="sldNum" sz="quarter" idx="12"/>
          </p:nvPr>
        </p:nvSpPr>
        <p:spPr/>
        <p:txBody>
          <a:bodyPr/>
          <a:lstStyle/>
          <a:p>
            <a:fld id="{CDDEC9AC-FECC-4FB4-B44F-2440DFE7EC0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30"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31"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32" name="Date Placeholder 3"/>
          <p:cNvSpPr>
            <a:spLocks noGrp="1"/>
          </p:cNvSpPr>
          <p:nvPr>
            <p:ph type="dt" sz="half" idx="10"/>
          </p:nvPr>
        </p:nvSpPr>
        <p:spPr/>
        <p:txBody>
          <a:bodyPr/>
          <a:lstStyle/>
          <a:p>
            <a:fld id="{E69EB334-E6BD-4DA4-B9FB-F106845FD303}" type="datetimeFigureOut">
              <a:rPr lang="en-IN" smtClean="0"/>
              <a:t>20-04-2026</a:t>
            </a:fld>
            <a:endParaRPr lang="en-IN"/>
          </a:p>
        </p:txBody>
      </p:sp>
      <p:sp>
        <p:nvSpPr>
          <p:cNvPr id="1048633" name="Footer Placeholder 4"/>
          <p:cNvSpPr>
            <a:spLocks noGrp="1"/>
          </p:cNvSpPr>
          <p:nvPr>
            <p:ph type="ftr" sz="quarter" idx="11"/>
          </p:nvPr>
        </p:nvSpPr>
        <p:spPr/>
        <p:txBody>
          <a:bodyPr/>
          <a:lstStyle/>
          <a:p>
            <a:endParaRPr lang="en-IN"/>
          </a:p>
        </p:txBody>
      </p:sp>
      <p:sp>
        <p:nvSpPr>
          <p:cNvPr id="1048634" name="Slide Number Placeholder 5"/>
          <p:cNvSpPr>
            <a:spLocks noGrp="1"/>
          </p:cNvSpPr>
          <p:nvPr>
            <p:ph type="sldNum" sz="quarter" idx="12"/>
          </p:nvPr>
        </p:nvSpPr>
        <p:spPr/>
        <p:txBody>
          <a:bodyPr/>
          <a:lstStyle/>
          <a:p>
            <a:fld id="{CDDEC9AC-FECC-4FB4-B44F-2440DFE7EC0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35" name="Title 1"/>
          <p:cNvSpPr>
            <a:spLocks noGrp="1"/>
          </p:cNvSpPr>
          <p:nvPr>
            <p:ph type="title"/>
          </p:nvPr>
        </p:nvSpPr>
        <p:spPr/>
        <p:txBody>
          <a:bodyPr/>
          <a:lstStyle/>
          <a:p>
            <a:r>
              <a:rPr lang="en-US"/>
              <a:t>Click to edit Master title style</a:t>
            </a:r>
            <a:endParaRPr lang="en-IN"/>
          </a:p>
        </p:txBody>
      </p:sp>
      <p:sp>
        <p:nvSpPr>
          <p:cNvPr id="1048636"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37"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38" name="Date Placeholder 4"/>
          <p:cNvSpPr>
            <a:spLocks noGrp="1"/>
          </p:cNvSpPr>
          <p:nvPr>
            <p:ph type="dt" sz="half" idx="10"/>
          </p:nvPr>
        </p:nvSpPr>
        <p:spPr/>
        <p:txBody>
          <a:bodyPr/>
          <a:lstStyle/>
          <a:p>
            <a:fld id="{E69EB334-E6BD-4DA4-B9FB-F106845FD303}" type="datetimeFigureOut">
              <a:rPr lang="en-IN" smtClean="0"/>
              <a:t>20-04-2026</a:t>
            </a:fld>
            <a:endParaRPr lang="en-IN"/>
          </a:p>
        </p:txBody>
      </p:sp>
      <p:sp>
        <p:nvSpPr>
          <p:cNvPr id="1048639" name="Footer Placeholder 5"/>
          <p:cNvSpPr>
            <a:spLocks noGrp="1"/>
          </p:cNvSpPr>
          <p:nvPr>
            <p:ph type="ftr" sz="quarter" idx="11"/>
          </p:nvPr>
        </p:nvSpPr>
        <p:spPr/>
        <p:txBody>
          <a:bodyPr/>
          <a:lstStyle/>
          <a:p>
            <a:endParaRPr lang="en-IN"/>
          </a:p>
        </p:txBody>
      </p:sp>
      <p:sp>
        <p:nvSpPr>
          <p:cNvPr id="1048640" name="Slide Number Placeholder 6"/>
          <p:cNvSpPr>
            <a:spLocks noGrp="1"/>
          </p:cNvSpPr>
          <p:nvPr>
            <p:ph type="sldNum" sz="quarter" idx="12"/>
          </p:nvPr>
        </p:nvSpPr>
        <p:spPr/>
        <p:txBody>
          <a:bodyPr/>
          <a:lstStyle/>
          <a:p>
            <a:fld id="{CDDEC9AC-FECC-4FB4-B44F-2440DFE7EC01}"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41"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42"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3"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4"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5"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6" name="Date Placeholder 6"/>
          <p:cNvSpPr>
            <a:spLocks noGrp="1"/>
          </p:cNvSpPr>
          <p:nvPr>
            <p:ph type="dt" sz="half" idx="10"/>
          </p:nvPr>
        </p:nvSpPr>
        <p:spPr/>
        <p:txBody>
          <a:bodyPr/>
          <a:lstStyle/>
          <a:p>
            <a:fld id="{E69EB334-E6BD-4DA4-B9FB-F106845FD303}" type="datetimeFigureOut">
              <a:rPr lang="en-IN" smtClean="0"/>
              <a:t>20-04-2026</a:t>
            </a:fld>
            <a:endParaRPr lang="en-IN"/>
          </a:p>
        </p:txBody>
      </p:sp>
      <p:sp>
        <p:nvSpPr>
          <p:cNvPr id="1048647" name="Footer Placeholder 7"/>
          <p:cNvSpPr>
            <a:spLocks noGrp="1"/>
          </p:cNvSpPr>
          <p:nvPr>
            <p:ph type="ftr" sz="quarter" idx="11"/>
          </p:nvPr>
        </p:nvSpPr>
        <p:spPr/>
        <p:txBody>
          <a:bodyPr/>
          <a:lstStyle/>
          <a:p>
            <a:endParaRPr lang="en-IN"/>
          </a:p>
        </p:txBody>
      </p:sp>
      <p:sp>
        <p:nvSpPr>
          <p:cNvPr id="1048648" name="Slide Number Placeholder 8"/>
          <p:cNvSpPr>
            <a:spLocks noGrp="1"/>
          </p:cNvSpPr>
          <p:nvPr>
            <p:ph type="sldNum" sz="quarter" idx="12"/>
          </p:nvPr>
        </p:nvSpPr>
        <p:spPr/>
        <p:txBody>
          <a:bodyPr/>
          <a:lstStyle/>
          <a:p>
            <a:fld id="{CDDEC9AC-FECC-4FB4-B44F-2440DFE7EC0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10" name="Title 1"/>
          <p:cNvSpPr>
            <a:spLocks noGrp="1"/>
          </p:cNvSpPr>
          <p:nvPr>
            <p:ph type="title"/>
          </p:nvPr>
        </p:nvSpPr>
        <p:spPr/>
        <p:txBody>
          <a:bodyPr/>
          <a:lstStyle/>
          <a:p>
            <a:r>
              <a:rPr lang="en-US"/>
              <a:t>Click to edit Master title style</a:t>
            </a:r>
            <a:endParaRPr lang="en-IN"/>
          </a:p>
        </p:txBody>
      </p:sp>
      <p:sp>
        <p:nvSpPr>
          <p:cNvPr id="1048611" name="Date Placeholder 2"/>
          <p:cNvSpPr>
            <a:spLocks noGrp="1"/>
          </p:cNvSpPr>
          <p:nvPr>
            <p:ph type="dt" sz="half" idx="10"/>
          </p:nvPr>
        </p:nvSpPr>
        <p:spPr/>
        <p:txBody>
          <a:bodyPr/>
          <a:lstStyle/>
          <a:p>
            <a:fld id="{E69EB334-E6BD-4DA4-B9FB-F106845FD303}" type="datetimeFigureOut">
              <a:rPr lang="en-IN" smtClean="0"/>
              <a:t>20-04-2026</a:t>
            </a:fld>
            <a:endParaRPr lang="en-IN"/>
          </a:p>
        </p:txBody>
      </p:sp>
      <p:sp>
        <p:nvSpPr>
          <p:cNvPr id="1048612" name="Footer Placeholder 3"/>
          <p:cNvSpPr>
            <a:spLocks noGrp="1"/>
          </p:cNvSpPr>
          <p:nvPr>
            <p:ph type="ftr" sz="quarter" idx="11"/>
          </p:nvPr>
        </p:nvSpPr>
        <p:spPr/>
        <p:txBody>
          <a:bodyPr/>
          <a:lstStyle/>
          <a:p>
            <a:endParaRPr lang="en-IN"/>
          </a:p>
        </p:txBody>
      </p:sp>
      <p:sp>
        <p:nvSpPr>
          <p:cNvPr id="1048613" name="Slide Number Placeholder 4"/>
          <p:cNvSpPr>
            <a:spLocks noGrp="1"/>
          </p:cNvSpPr>
          <p:nvPr>
            <p:ph type="sldNum" sz="quarter" idx="12"/>
          </p:nvPr>
        </p:nvSpPr>
        <p:spPr/>
        <p:txBody>
          <a:bodyPr/>
          <a:lstStyle/>
          <a:p>
            <a:fld id="{CDDEC9AC-FECC-4FB4-B44F-2440DFE7EC0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49" name="Date Placeholder 1"/>
          <p:cNvSpPr>
            <a:spLocks noGrp="1"/>
          </p:cNvSpPr>
          <p:nvPr>
            <p:ph type="dt" sz="half" idx="10"/>
          </p:nvPr>
        </p:nvSpPr>
        <p:spPr/>
        <p:txBody>
          <a:bodyPr/>
          <a:lstStyle/>
          <a:p>
            <a:fld id="{E69EB334-E6BD-4DA4-B9FB-F106845FD303}" type="datetimeFigureOut">
              <a:rPr lang="en-IN" smtClean="0"/>
              <a:t>20-04-2026</a:t>
            </a:fld>
            <a:endParaRPr lang="en-IN"/>
          </a:p>
        </p:txBody>
      </p:sp>
      <p:sp>
        <p:nvSpPr>
          <p:cNvPr id="1048650" name="Footer Placeholder 2"/>
          <p:cNvSpPr>
            <a:spLocks noGrp="1"/>
          </p:cNvSpPr>
          <p:nvPr>
            <p:ph type="ftr" sz="quarter" idx="11"/>
          </p:nvPr>
        </p:nvSpPr>
        <p:spPr/>
        <p:txBody>
          <a:bodyPr/>
          <a:lstStyle/>
          <a:p>
            <a:endParaRPr lang="en-IN"/>
          </a:p>
        </p:txBody>
      </p:sp>
      <p:sp>
        <p:nvSpPr>
          <p:cNvPr id="1048651" name="Slide Number Placeholder 3"/>
          <p:cNvSpPr>
            <a:spLocks noGrp="1"/>
          </p:cNvSpPr>
          <p:nvPr>
            <p:ph type="sldNum" sz="quarter" idx="12"/>
          </p:nvPr>
        </p:nvSpPr>
        <p:spPr/>
        <p:txBody>
          <a:bodyPr/>
          <a:lstStyle/>
          <a:p>
            <a:fld id="{CDDEC9AC-FECC-4FB4-B44F-2440DFE7EC0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5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5" name="Date Placeholder 4"/>
          <p:cNvSpPr>
            <a:spLocks noGrp="1"/>
          </p:cNvSpPr>
          <p:nvPr>
            <p:ph type="dt" sz="half" idx="10"/>
          </p:nvPr>
        </p:nvSpPr>
        <p:spPr/>
        <p:txBody>
          <a:bodyPr/>
          <a:lstStyle/>
          <a:p>
            <a:fld id="{E69EB334-E6BD-4DA4-B9FB-F106845FD303}" type="datetimeFigureOut">
              <a:rPr lang="en-IN" smtClean="0"/>
              <a:t>20-04-2026</a:t>
            </a:fld>
            <a:endParaRPr lang="en-IN"/>
          </a:p>
        </p:txBody>
      </p:sp>
      <p:sp>
        <p:nvSpPr>
          <p:cNvPr id="1048656" name="Footer Placeholder 5"/>
          <p:cNvSpPr>
            <a:spLocks noGrp="1"/>
          </p:cNvSpPr>
          <p:nvPr>
            <p:ph type="ftr" sz="quarter" idx="11"/>
          </p:nvPr>
        </p:nvSpPr>
        <p:spPr/>
        <p:txBody>
          <a:bodyPr/>
          <a:lstStyle/>
          <a:p>
            <a:endParaRPr lang="en-IN"/>
          </a:p>
        </p:txBody>
      </p:sp>
      <p:sp>
        <p:nvSpPr>
          <p:cNvPr id="1048657" name="Slide Number Placeholder 6"/>
          <p:cNvSpPr>
            <a:spLocks noGrp="1"/>
          </p:cNvSpPr>
          <p:nvPr>
            <p:ph type="sldNum" sz="quarter" idx="12"/>
          </p:nvPr>
        </p:nvSpPr>
        <p:spPr/>
        <p:txBody>
          <a:bodyPr/>
          <a:lstStyle/>
          <a:p>
            <a:fld id="{CDDEC9AC-FECC-4FB4-B44F-2440DFE7EC0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19"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20"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621"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22" name="Date Placeholder 4"/>
          <p:cNvSpPr>
            <a:spLocks noGrp="1"/>
          </p:cNvSpPr>
          <p:nvPr>
            <p:ph type="dt" sz="half" idx="10"/>
          </p:nvPr>
        </p:nvSpPr>
        <p:spPr/>
        <p:txBody>
          <a:bodyPr/>
          <a:lstStyle/>
          <a:p>
            <a:fld id="{E69EB334-E6BD-4DA4-B9FB-F106845FD303}" type="datetimeFigureOut">
              <a:rPr lang="en-IN" smtClean="0"/>
              <a:t>20-04-2026</a:t>
            </a:fld>
            <a:endParaRPr lang="en-IN"/>
          </a:p>
        </p:txBody>
      </p:sp>
      <p:sp>
        <p:nvSpPr>
          <p:cNvPr id="1048623" name="Footer Placeholder 5"/>
          <p:cNvSpPr>
            <a:spLocks noGrp="1"/>
          </p:cNvSpPr>
          <p:nvPr>
            <p:ph type="ftr" sz="quarter" idx="11"/>
          </p:nvPr>
        </p:nvSpPr>
        <p:spPr/>
        <p:txBody>
          <a:bodyPr/>
          <a:lstStyle/>
          <a:p>
            <a:endParaRPr lang="en-IN"/>
          </a:p>
        </p:txBody>
      </p:sp>
      <p:sp>
        <p:nvSpPr>
          <p:cNvPr id="1048624" name="Slide Number Placeholder 6"/>
          <p:cNvSpPr>
            <a:spLocks noGrp="1"/>
          </p:cNvSpPr>
          <p:nvPr>
            <p:ph type="sldNum" sz="quarter" idx="12"/>
          </p:nvPr>
        </p:nvSpPr>
        <p:spPr/>
        <p:txBody>
          <a:bodyPr/>
          <a:lstStyle/>
          <a:p>
            <a:fld id="{CDDEC9AC-FECC-4FB4-B44F-2440DFE7EC0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25" name="Title 1"/>
          <p:cNvSpPr>
            <a:spLocks noGrp="1"/>
          </p:cNvSpPr>
          <p:nvPr>
            <p:ph type="title"/>
          </p:nvPr>
        </p:nvSpPr>
        <p:spPr/>
        <p:txBody>
          <a:bodyPr/>
          <a:lstStyle/>
          <a:p>
            <a:r>
              <a:rPr lang="en-US"/>
              <a:t>Click to edit Master title style</a:t>
            </a:r>
            <a:endParaRPr lang="en-IN"/>
          </a:p>
        </p:txBody>
      </p:sp>
      <p:sp>
        <p:nvSpPr>
          <p:cNvPr id="1048626"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27" name="Date Placeholder 3"/>
          <p:cNvSpPr>
            <a:spLocks noGrp="1"/>
          </p:cNvSpPr>
          <p:nvPr>
            <p:ph type="dt" sz="half" idx="10"/>
          </p:nvPr>
        </p:nvSpPr>
        <p:spPr/>
        <p:txBody>
          <a:bodyPr/>
          <a:lstStyle/>
          <a:p>
            <a:fld id="{E69EB334-E6BD-4DA4-B9FB-F106845FD303}" type="datetimeFigureOut">
              <a:rPr lang="en-IN" smtClean="0"/>
              <a:t>20-04-2026</a:t>
            </a:fld>
            <a:endParaRPr lang="en-IN"/>
          </a:p>
        </p:txBody>
      </p:sp>
      <p:sp>
        <p:nvSpPr>
          <p:cNvPr id="1048628" name="Footer Placeholder 4"/>
          <p:cNvSpPr>
            <a:spLocks noGrp="1"/>
          </p:cNvSpPr>
          <p:nvPr>
            <p:ph type="ftr" sz="quarter" idx="11"/>
          </p:nvPr>
        </p:nvSpPr>
        <p:spPr/>
        <p:txBody>
          <a:bodyPr/>
          <a:lstStyle/>
          <a:p>
            <a:endParaRPr lang="en-IN"/>
          </a:p>
        </p:txBody>
      </p:sp>
      <p:sp>
        <p:nvSpPr>
          <p:cNvPr id="1048629" name="Slide Number Placeholder 5"/>
          <p:cNvSpPr>
            <a:spLocks noGrp="1"/>
          </p:cNvSpPr>
          <p:nvPr>
            <p:ph type="sldNum" sz="quarter" idx="12"/>
          </p:nvPr>
        </p:nvSpPr>
        <p:spPr/>
        <p:txBody>
          <a:bodyPr/>
          <a:lstStyle/>
          <a:p>
            <a:fld id="{CDDEC9AC-FECC-4FB4-B44F-2440DFE7EC0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14"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15"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16" name="Date Placeholder 3"/>
          <p:cNvSpPr>
            <a:spLocks noGrp="1"/>
          </p:cNvSpPr>
          <p:nvPr>
            <p:ph type="dt" sz="half" idx="10"/>
          </p:nvPr>
        </p:nvSpPr>
        <p:spPr/>
        <p:txBody>
          <a:bodyPr/>
          <a:lstStyle/>
          <a:p>
            <a:fld id="{E69EB334-E6BD-4DA4-B9FB-F106845FD303}" type="datetimeFigureOut">
              <a:rPr lang="en-IN" smtClean="0"/>
              <a:t>20-04-2026</a:t>
            </a:fld>
            <a:endParaRPr lang="en-IN"/>
          </a:p>
        </p:txBody>
      </p:sp>
      <p:sp>
        <p:nvSpPr>
          <p:cNvPr id="1048617" name="Footer Placeholder 4"/>
          <p:cNvSpPr>
            <a:spLocks noGrp="1"/>
          </p:cNvSpPr>
          <p:nvPr>
            <p:ph type="ftr" sz="quarter" idx="11"/>
          </p:nvPr>
        </p:nvSpPr>
        <p:spPr/>
        <p:txBody>
          <a:bodyPr/>
          <a:lstStyle/>
          <a:p>
            <a:endParaRPr lang="en-IN"/>
          </a:p>
        </p:txBody>
      </p:sp>
      <p:sp>
        <p:nvSpPr>
          <p:cNvPr id="1048618" name="Slide Number Placeholder 5"/>
          <p:cNvSpPr>
            <a:spLocks noGrp="1"/>
          </p:cNvSpPr>
          <p:nvPr>
            <p:ph type="sldNum" sz="quarter" idx="12"/>
          </p:nvPr>
        </p:nvSpPr>
        <p:spPr/>
        <p:txBody>
          <a:bodyPr/>
          <a:lstStyle/>
          <a:p>
            <a:fld id="{CDDEC9AC-FECC-4FB4-B44F-2440DFE7EC0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9EB334-E6BD-4DA4-B9FB-F106845FD303}" type="datetimeFigureOut">
              <a:rPr lang="en-IN" smtClean="0"/>
              <a:t>20-04-2026</a:t>
            </a:fld>
            <a:endParaRPr lang="en-IN"/>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DEC9AC-FECC-4FB4-B44F-2440DFE7EC0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doi.org/10.1016/j.cmpb.2022.106666"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hyperlink" Target="https://www.mdpi.com/2079-9292/14/14/2785#:~:text=this%20work%20presents%20a%20benchmarking,database%20validation%20was" TargetMode="External"/><Relationship Id="rId13" Type="http://schemas.openxmlformats.org/officeDocument/2006/relationships/hyperlink" Target="https://www.frontiersin.org/journals/oncology/articles/10.3389/fonc.2023.1151257/full#:~:text=GradCAM,improved%20and%20less%20computational%20time" TargetMode="External"/><Relationship Id="rId3" Type="http://schemas.openxmlformats.org/officeDocument/2006/relationships/hyperlink" Target="https://link.springer.com/article/10.1007/s10278-024-01271-y#:~:text=distribution%20through%20the%20softmax%20function,art%20methods%20positions%20it" TargetMode="External"/><Relationship Id="rId7" Type="http://schemas.openxmlformats.org/officeDocument/2006/relationships/hyperlink" Target="https://www.mdpi.com/1424-8220/21/8/2852#:~:text=The%20proposed%20model%20based%20on,V2%20architecture%20is%20designed%20to" TargetMode="External"/><Relationship Id="rId12" Type="http://schemas.openxmlformats.org/officeDocument/2006/relationships/hyperlink" Target="https://www.frontiersin.org/journals/oncology/articles/10.3389/fonc.2023.1151257/full#:~:text=framework%20for%20skin%20lesion%20recognition,we%20developed%20an%20improved%20Butterfly" TargetMode="External"/><Relationship Id="rId2" Type="http://schemas.openxmlformats.org/officeDocument/2006/relationships/hyperlink" Target="https://link.springer.com/article/10.1007/s10278-024-01271-y#:~:text=Spatial%20Pyramid%20Pooling%20,is%20fused%20by%20the%20ASPP" TargetMode="External"/><Relationship Id="rId1" Type="http://schemas.openxmlformats.org/officeDocument/2006/relationships/slideLayout" Target="../slideLayouts/slideLayout1.xml"/><Relationship Id="rId6" Type="http://schemas.openxmlformats.org/officeDocument/2006/relationships/hyperlink" Target="https://www.mdpi.com/1424-8220/21/8/2852#:~:text=network%20architecture%20that%20expanded%20with,conventional%20MobileNet%20model%20results%20in" TargetMode="External"/><Relationship Id="rId11" Type="http://schemas.openxmlformats.org/officeDocument/2006/relationships/hyperlink" Target="https://www.mdpi.com/2306-5354/11/9/867#:~:text=The%20proposed%20model%20has%20been,as%20described%20in%20Table%205" TargetMode="External"/><Relationship Id="rId5" Type="http://schemas.openxmlformats.org/officeDocument/2006/relationships/hyperlink" Target="https://www.nature.com/articles/s41598-025-90418-0?error=cookies_not_supported&amp;code=23f5c67e-581e-4519-ba6d-987afefd3e0c#:~:text=match%20at%20L686%20In%20terms,Mean%20values" TargetMode="External"/><Relationship Id="rId15" Type="http://schemas.openxmlformats.org/officeDocument/2006/relationships/hyperlink" Target="https://arxiv.org/html/2509.04800v1#:~:text=ViT%200,802" TargetMode="External"/><Relationship Id="rId10" Type="http://schemas.openxmlformats.org/officeDocument/2006/relationships/hyperlink" Target="https://www.mdpi.com/2306-5354/11/9/867#:~:text=The%20accuracy%20of%20the%20basic,88" TargetMode="External"/><Relationship Id="rId4" Type="http://schemas.openxmlformats.org/officeDocument/2006/relationships/hyperlink" Target="https://www.nature.com/articles/s41598-025-90418-0?error=cookies_not_supported&amp;code=23f5c67e-581e-4519-ba6d-987afefd3e0c#:~:text=of%20the%20proposed%20model%2C%20this,proposed%20model%20in%20this%20paper" TargetMode="External"/><Relationship Id="rId9" Type="http://schemas.openxmlformats.org/officeDocument/2006/relationships/hyperlink" Target="https://www.mdpi.com/2079-9292/14/14/2785#:~:text=different%20data%20distributions,models%20into%20healthcare%20screening%20tools" TargetMode="External"/><Relationship Id="rId14" Type="http://schemas.openxmlformats.org/officeDocument/2006/relationships/hyperlink" Target="https://arxiv.org/html/2509.04800v1#:~:text=In%20this%20study%20we%20curated,This%20curate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Picture 3"/>
          <p:cNvPicPr>
            <a:picLocks noChangeAspect="1"/>
          </p:cNvPicPr>
          <p:nvPr/>
        </p:nvPicPr>
        <p:blipFill>
          <a:blip r:embed="rId2"/>
          <a:srcRect/>
          <a:stretch>
            <a:fillRect/>
          </a:stretch>
        </p:blipFill>
        <p:spPr bwMode="auto">
          <a:xfrm>
            <a:off x="2519265" y="279918"/>
            <a:ext cx="6983781" cy="1228989"/>
          </a:xfrm>
          <a:prstGeom prst="rect">
            <a:avLst/>
          </a:prstGeom>
          <a:noFill/>
          <a:ln>
            <a:noFill/>
          </a:ln>
        </p:spPr>
      </p:pic>
      <p:sp>
        <p:nvSpPr>
          <p:cNvPr id="1048602" name="TextBox 5"/>
          <p:cNvSpPr txBox="1"/>
          <p:nvPr/>
        </p:nvSpPr>
        <p:spPr>
          <a:xfrm>
            <a:off x="1541012" y="3363179"/>
            <a:ext cx="9341485" cy="1136616"/>
          </a:xfrm>
          <a:prstGeom prst="rect">
            <a:avLst/>
          </a:prstGeom>
          <a:noFill/>
        </p:spPr>
        <p:txBody>
          <a:bodyPr wrap="square">
            <a:noAutofit/>
          </a:bodyPr>
          <a:lstStyle/>
          <a:p>
            <a:pPr algn="ctr">
              <a:lnSpc>
                <a:spcPct val="150000"/>
              </a:lnSpc>
              <a:spcAft>
                <a:spcPts val="1500"/>
              </a:spcAft>
            </a:pPr>
            <a:r>
              <a:rPr lang="en-IN" sz="3200" b="1" u="sng" dirty="0">
                <a:solidFill>
                  <a:srgbClr val="0070C0"/>
                </a:solidFill>
                <a:effectLst/>
                <a:latin typeface="Arial Unicode MS" pitchFamily="34" charset="-128"/>
                <a:ea typeface="Arial Unicode MS" pitchFamily="34" charset="-128"/>
                <a:cs typeface="Arial Unicode MS" pitchFamily="34" charset="-128"/>
              </a:rPr>
              <a:t>Skin Disease Detection Using Deep Learning</a:t>
            </a:r>
          </a:p>
        </p:txBody>
      </p:sp>
      <p:sp>
        <p:nvSpPr>
          <p:cNvPr id="1048603" name="TextBox 7"/>
          <p:cNvSpPr txBox="1"/>
          <p:nvPr/>
        </p:nvSpPr>
        <p:spPr>
          <a:xfrm>
            <a:off x="2586318" y="1727586"/>
            <a:ext cx="7019364" cy="481965"/>
          </a:xfrm>
          <a:prstGeom prst="rect">
            <a:avLst/>
          </a:prstGeom>
          <a:noFill/>
        </p:spPr>
        <p:txBody>
          <a:bodyPr wrap="square">
            <a:spAutoFit/>
          </a:bodyPr>
          <a:lstStyle/>
          <a:p>
            <a:pPr algn="ctr">
              <a:lnSpc>
                <a:spcPct val="106000"/>
              </a:lnSpc>
              <a:spcBef>
                <a:spcPts val="1200"/>
              </a:spcBef>
              <a:spcAft>
                <a:spcPts val="3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School of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E&amp;TC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Engineering (SEE)</a:t>
            </a:r>
          </a:p>
        </p:txBody>
      </p:sp>
      <p:sp>
        <p:nvSpPr>
          <p:cNvPr id="1048604" name="TextBox 9"/>
          <p:cNvSpPr txBox="1"/>
          <p:nvPr/>
        </p:nvSpPr>
        <p:spPr>
          <a:xfrm>
            <a:off x="3048000" y="2439849"/>
            <a:ext cx="6096000" cy="923330"/>
          </a:xfrm>
          <a:prstGeom prst="rect">
            <a:avLst/>
          </a:prstGeom>
          <a:noFill/>
        </p:spPr>
        <p:txBody>
          <a:bodyPr wrap="square">
            <a:spAutoFit/>
          </a:bodyPr>
          <a:lstStyle/>
          <a:p>
            <a:pPr algn="ctr"/>
            <a:r>
              <a:rPr lang="en-IN" b="1" u="sng" dirty="0">
                <a:latin typeface="Times New Roman" panose="02020603050405020304" pitchFamily="18" charset="0"/>
                <a:cs typeface="Times New Roman" panose="02020603050405020304" pitchFamily="18" charset="0"/>
              </a:rPr>
              <a:t>TY-BTech Major Project (SEM-VI)</a:t>
            </a:r>
          </a:p>
          <a:p>
            <a:pPr algn="ctr"/>
            <a:endParaRPr lang="en-IN" b="1" u="sng" dirty="0">
              <a:latin typeface="Times New Roman" panose="02020603050405020304" pitchFamily="18" charset="0"/>
              <a:cs typeface="Times New Roman" panose="02020603050405020304" pitchFamily="18" charset="0"/>
            </a:endParaRPr>
          </a:p>
          <a:p>
            <a:pPr algn="ctr"/>
            <a:r>
              <a:rPr lang="en-IN" b="1" u="sng" dirty="0">
                <a:latin typeface="Times New Roman" panose="02020603050405020304" pitchFamily="18" charset="0"/>
                <a:cs typeface="Times New Roman" panose="02020603050405020304" pitchFamily="18" charset="0"/>
              </a:rPr>
              <a:t>Project – II (2307391)</a:t>
            </a:r>
          </a:p>
        </p:txBody>
      </p:sp>
      <p:sp>
        <p:nvSpPr>
          <p:cNvPr id="1048605" name="TextBox 13"/>
          <p:cNvSpPr txBox="1"/>
          <p:nvPr/>
        </p:nvSpPr>
        <p:spPr>
          <a:xfrm>
            <a:off x="7103660" y="4718474"/>
            <a:ext cx="4232701" cy="1704569"/>
          </a:xfrm>
          <a:prstGeom prst="rect">
            <a:avLst/>
          </a:prstGeom>
          <a:noFill/>
        </p:spPr>
        <p:txBody>
          <a:bodyPr wrap="square">
            <a:spAutoFit/>
          </a:bodyPr>
          <a:lstStyle/>
          <a:p>
            <a:pPr indent="457200" algn="ctr">
              <a:lnSpc>
                <a:spcPct val="150000"/>
              </a:lnSpc>
            </a:pPr>
            <a:r>
              <a:rPr lang="en-US" kern="1400" dirty="0">
                <a:effectLst/>
                <a:latin typeface="Times New Roman" panose="02020603050405020304" pitchFamily="18" charset="0"/>
                <a:ea typeface="Times New Roman" panose="02020603050405020304" pitchFamily="18" charset="0"/>
                <a:cs typeface="Times New Roman" panose="02020603050405020304" pitchFamily="18" charset="0"/>
              </a:rPr>
              <a:t>Shinde Vaishnavi     [202402060016]</a:t>
            </a:r>
            <a:endParaRPr lang="en-IN" sz="1600" kern="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ctr">
              <a:lnSpc>
                <a:spcPct val="150000"/>
              </a:lnSpc>
            </a:pPr>
            <a:r>
              <a:rPr lang="en-US" kern="1400" dirty="0">
                <a:effectLst/>
                <a:latin typeface="Times New Roman" panose="02020603050405020304" pitchFamily="18" charset="0"/>
                <a:ea typeface="Times New Roman" panose="02020603050405020304" pitchFamily="18" charset="0"/>
                <a:cs typeface="Times New Roman" panose="02020603050405020304" pitchFamily="18" charset="0"/>
              </a:rPr>
              <a:t>Kalaskar Shreya </a:t>
            </a:r>
            <a:r>
              <a:rPr lang="en-IN" altLang="en-US" kern="1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kern="1400" dirty="0">
                <a:effectLst/>
                <a:latin typeface="Times New Roman" panose="02020603050405020304" pitchFamily="18" charset="0"/>
                <a:ea typeface="Times New Roman" panose="02020603050405020304" pitchFamily="18" charset="0"/>
                <a:cs typeface="Times New Roman" panose="02020603050405020304" pitchFamily="18" charset="0"/>
              </a:rPr>
              <a:t>[202402060006]</a:t>
            </a:r>
            <a:endParaRPr lang="en-IN" sz="1600" kern="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ctr">
              <a:lnSpc>
                <a:spcPct val="150000"/>
              </a:lnSpc>
            </a:pPr>
            <a:r>
              <a:rPr lang="en-US" kern="1400" dirty="0">
                <a:effectLst/>
                <a:latin typeface="Times New Roman" panose="02020603050405020304" pitchFamily="18" charset="0"/>
                <a:ea typeface="Times New Roman" panose="02020603050405020304" pitchFamily="18" charset="0"/>
                <a:cs typeface="Times New Roman" panose="02020603050405020304" pitchFamily="18" charset="0"/>
              </a:rPr>
              <a:t>Yadav Pushka</a:t>
            </a:r>
            <a:r>
              <a:rPr lang="en-IN" altLang="en-US" kern="1400" dirty="0">
                <a:effectLst/>
                <a:latin typeface="Times New Roman" panose="02020603050405020304" pitchFamily="18" charset="0"/>
                <a:ea typeface="Times New Roman" panose="02020603050405020304" pitchFamily="18" charset="0"/>
                <a:cs typeface="Times New Roman" panose="02020603050405020304" pitchFamily="18" charset="0"/>
              </a:rPr>
              <a:t>r</a:t>
            </a:r>
            <a:r>
              <a:rPr lang="en-US" kern="1400" dirty="0">
                <a:effectLst/>
                <a:latin typeface="Times New Roman" panose="02020603050405020304" pitchFamily="18" charset="0"/>
                <a:ea typeface="Times New Roman" panose="02020603050405020304" pitchFamily="18" charset="0"/>
                <a:cs typeface="Times New Roman" panose="02020603050405020304" pitchFamily="18" charset="0"/>
              </a:rPr>
              <a:t>         [202402060017]</a:t>
            </a:r>
          </a:p>
          <a:p>
            <a:pPr indent="457200" algn="ctr">
              <a:lnSpc>
                <a:spcPct val="150000"/>
              </a:lnSpc>
            </a:pPr>
            <a:r>
              <a:rPr lang="en-US" kern="1400" dirty="0">
                <a:latin typeface="Times New Roman" panose="02020603050405020304" pitchFamily="18" charset="0"/>
                <a:cs typeface="Times New Roman" panose="02020603050405020304" pitchFamily="18" charset="0"/>
              </a:rPr>
              <a:t>Aayush </a:t>
            </a:r>
            <a:r>
              <a:rPr lang="en-US" kern="1400" dirty="0" err="1">
                <a:latin typeface="Times New Roman" panose="02020603050405020304" pitchFamily="18" charset="0"/>
                <a:cs typeface="Times New Roman" panose="02020603050405020304" pitchFamily="18" charset="0"/>
              </a:rPr>
              <a:t>Katamkar</a:t>
            </a:r>
            <a:r>
              <a:rPr lang="en-US" kern="1400" dirty="0">
                <a:latin typeface="Times New Roman" panose="02020603050405020304" pitchFamily="18" charset="0"/>
                <a:cs typeface="Times New Roman" panose="02020603050405020304" pitchFamily="18" charset="0"/>
              </a:rPr>
              <a:t>    [202402060015]</a:t>
            </a:r>
            <a:endParaRPr lang="en-IN" kern="1400" dirty="0">
              <a:latin typeface="Times New Roman" panose="02020603050405020304" pitchFamily="18" charset="0"/>
              <a:cs typeface="Times New Roman" panose="02020603050405020304" pitchFamily="18" charset="0"/>
            </a:endParaRPr>
          </a:p>
        </p:txBody>
      </p:sp>
      <p:sp>
        <p:nvSpPr>
          <p:cNvPr id="2" name="TextBox 5"/>
          <p:cNvSpPr txBox="1"/>
          <p:nvPr/>
        </p:nvSpPr>
        <p:spPr>
          <a:xfrm>
            <a:off x="855639" y="4919082"/>
            <a:ext cx="2938841" cy="1007706"/>
          </a:xfrm>
          <a:prstGeom prst="rect">
            <a:avLst/>
          </a:prstGeom>
          <a:noFill/>
        </p:spPr>
        <p:txBody>
          <a:bodyPr wrap="square">
            <a:noAutofit/>
          </a:bodyPr>
          <a:lstStyle/>
          <a:p>
            <a:pPr algn="ctr">
              <a:lnSpc>
                <a:spcPct val="150000"/>
              </a:lnSpc>
              <a:spcAft>
                <a:spcPts val="1500"/>
              </a:spcAft>
            </a:pPr>
            <a:r>
              <a:rPr lang="en-IN" dirty="0">
                <a:effectLst/>
                <a:latin typeface="Times New Roman" panose="02020603050405020304" pitchFamily="18" charset="0"/>
                <a:ea typeface="Calibri" panose="020F0502020204030204" pitchFamily="34" charset="0"/>
                <a:cs typeface="Times New Roman" panose="02020603050405020304" pitchFamily="18" charset="0"/>
              </a:rPr>
              <a:t>Supervised by </a:t>
            </a:r>
          </a:p>
          <a:p>
            <a:pPr algn="ctr">
              <a:lnSpc>
                <a:spcPct val="150000"/>
              </a:lnSpc>
              <a:spcAft>
                <a:spcPts val="1500"/>
              </a:spcAft>
            </a:pPr>
            <a:r>
              <a:rPr lang="en-IN" dirty="0">
                <a:latin typeface="Times New Roman" panose="02020603050405020304" pitchFamily="18" charset="0"/>
                <a:ea typeface="Calibri" panose="020F0502020204030204" pitchFamily="34" charset="0"/>
                <a:cs typeface="Times New Roman" panose="02020603050405020304" pitchFamily="18" charset="0"/>
              </a:rPr>
              <a:t>Prof. Vinaya S. </a:t>
            </a:r>
            <a:r>
              <a:rPr lang="en-IN" dirty="0" err="1">
                <a:latin typeface="Times New Roman" panose="02020603050405020304" pitchFamily="18" charset="0"/>
                <a:ea typeface="Calibri" panose="020F0502020204030204" pitchFamily="34" charset="0"/>
                <a:cs typeface="Times New Roman" panose="02020603050405020304" pitchFamily="18" charset="0"/>
              </a:rPr>
              <a:t>Tapkir</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extBox 1"/>
          <p:cNvSpPr txBox="1"/>
          <p:nvPr/>
        </p:nvSpPr>
        <p:spPr>
          <a:xfrm>
            <a:off x="0" y="0"/>
            <a:ext cx="12192000"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I</a:t>
            </a:r>
            <a:r>
              <a:rPr lang="en-IN" sz="4000" b="1" dirty="0" err="1">
                <a:latin typeface="Times New Roman" panose="02020603050405020304" pitchFamily="18" charset="0"/>
                <a:cs typeface="Times New Roman" panose="02020603050405020304" pitchFamily="18" charset="0"/>
              </a:rPr>
              <a:t>ndex</a:t>
            </a:r>
            <a:endParaRPr lang="en-IN" sz="4000" b="1" dirty="0">
              <a:latin typeface="Times New Roman" panose="02020603050405020304" pitchFamily="18" charset="0"/>
              <a:cs typeface="Times New Roman" panose="02020603050405020304" pitchFamily="18" charset="0"/>
            </a:endParaRPr>
          </a:p>
        </p:txBody>
      </p:sp>
      <p:sp>
        <p:nvSpPr>
          <p:cNvPr id="1048607" name="TextBox 2"/>
          <p:cNvSpPr txBox="1"/>
          <p:nvPr/>
        </p:nvSpPr>
        <p:spPr>
          <a:xfrm>
            <a:off x="167952" y="707886"/>
            <a:ext cx="12191999" cy="5724644"/>
          </a:xfrm>
          <a:prstGeom prst="rect">
            <a:avLst/>
          </a:prstGeom>
          <a:noFill/>
        </p:spPr>
        <p:txBody>
          <a:bodyPr wrap="square" rtlCol="0">
            <a:spAutoFit/>
          </a:bodyPr>
          <a:lstStyle/>
          <a:p>
            <a:pPr marL="800100" lvl="1"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Introduction</a:t>
            </a:r>
          </a:p>
          <a:p>
            <a:pPr marL="800100" lvl="1"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Motivation</a:t>
            </a:r>
          </a:p>
          <a:p>
            <a:pPr marL="800100" lvl="1"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Problem Statement</a:t>
            </a:r>
          </a:p>
          <a:p>
            <a:pPr marL="800100" lvl="1"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Objectives</a:t>
            </a:r>
          </a:p>
          <a:p>
            <a:pPr marL="800100" lvl="1"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Literature Survey</a:t>
            </a:r>
          </a:p>
          <a:p>
            <a:pPr marL="800100" lvl="1"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Proposed method </a:t>
            </a:r>
          </a:p>
          <a:p>
            <a:pPr marL="800100" lvl="1"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Deployment result</a:t>
            </a:r>
          </a:p>
          <a:p>
            <a:pPr marL="800100" lvl="1" indent="-3429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Conclusion</a:t>
            </a:r>
          </a:p>
          <a:p>
            <a:pPr lvl="1">
              <a:lnSpc>
                <a:spcPct val="150000"/>
              </a:lnSpc>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extBox 1"/>
          <p:cNvSpPr txBox="1"/>
          <p:nvPr/>
        </p:nvSpPr>
        <p:spPr>
          <a:xfrm>
            <a:off x="0" y="0"/>
            <a:ext cx="12192000" cy="76835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IN" altLang="en-US" sz="4400" b="1"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F51B40AD-654F-5EE1-B393-0CAECE1564B5}"/>
              </a:ext>
            </a:extLst>
          </p:cNvPr>
          <p:cNvSpPr txBox="1"/>
          <p:nvPr/>
        </p:nvSpPr>
        <p:spPr>
          <a:xfrm>
            <a:off x="420413" y="1355836"/>
            <a:ext cx="11540359" cy="3368614"/>
          </a:xfrm>
          <a:prstGeom prst="rect">
            <a:avLst/>
          </a:prstGeom>
          <a:noFill/>
        </p:spPr>
        <p:txBody>
          <a:bodyPr wrap="square" rtlCol="0">
            <a:sp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Skin diseases affect the skin and may cause rashes, inflammation, itching, or visible changes.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Causes can be genetic or related to lifestyle and environmental factors.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Treatments include medications, ointments, creams, and lifestyle modifications.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Common skin diseases: acne, alopecia areata, eczema (atopic dermatitis), and psoriasis.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Diagnostic tests include skin biopsy, culture tests, patch testing, and Wood’s lamp (UV) examination.</a:t>
            </a:r>
          </a:p>
          <a:p>
            <a:pPr algn="just">
              <a:lnSpc>
                <a:spcPct val="150000"/>
              </a:lnSpc>
            </a:pPr>
            <a:endParaRPr lang="en-IN" sz="2000" dirty="0"/>
          </a:p>
        </p:txBody>
      </p:sp>
      <p:sp>
        <p:nvSpPr>
          <p:cNvPr id="7"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8" name="Rectangle 2"/>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TextBox 1"/>
          <p:cNvSpPr txBox="1"/>
          <p:nvPr/>
        </p:nvSpPr>
        <p:spPr>
          <a:xfrm>
            <a:off x="0" y="18662"/>
            <a:ext cx="12192000" cy="76835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IN" sz="4400" b="1" dirty="0">
                <a:latin typeface="Times New Roman" panose="02020603050405020304" pitchFamily="18" charset="0"/>
                <a:cs typeface="Times New Roman" panose="02020603050405020304" pitchFamily="18" charset="0"/>
              </a:rPr>
              <a:t>Motivation</a:t>
            </a:r>
          </a:p>
        </p:txBody>
      </p:sp>
      <p:sp>
        <p:nvSpPr>
          <p:cNvPr id="2" name="Rectangle 1">
            <a:extLst>
              <a:ext uri="{FF2B5EF4-FFF2-40B4-BE49-F238E27FC236}">
                <a16:creationId xmlns:a16="http://schemas.microsoft.com/office/drawing/2014/main" id="{8C8F4395-BA06-B35F-CDE3-5C2CC097551B}"/>
              </a:ext>
            </a:extLst>
          </p:cNvPr>
          <p:cNvSpPr>
            <a:spLocks noChangeArrowheads="1"/>
          </p:cNvSpPr>
          <p:nvPr/>
        </p:nvSpPr>
        <p:spPr bwMode="auto">
          <a:xfrm rot="10800000" flipV="1">
            <a:off x="378372" y="1546678"/>
            <a:ext cx="11435255" cy="419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Skin diseases can be highly contagious, as seen in the 2022 lumpy skin disease outbreak in India that killed over 97,000 cattle.</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 large gap exists between dermatologists and patients due to lack of awareness about disease types, symptoms, and stages.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India has reported 32 mpox (monkeypox) cases since WHO’s 2022 emergency declaration; globally, over 103,000 cases and 229 deaths have occurred.</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Accurate diagnosis of skin diseases is often difficult and costly.</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Automatic computer-aided systems using machine learning enable faster and more accurate skin disease classification.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hhbh</a:t>
            </a:r>
          </a:p>
        </p:txBody>
      </p:sp>
      <p:sp>
        <p:nvSpPr>
          <p:cNvPr id="1048585" name="TextBox 1"/>
          <p:cNvSpPr txBox="1"/>
          <p:nvPr/>
        </p:nvSpPr>
        <p:spPr>
          <a:xfrm>
            <a:off x="0" y="0"/>
            <a:ext cx="12192000" cy="76835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en-IN" sz="4400" b="1" dirty="0">
                <a:solidFill>
                  <a:schemeClr val="bg1"/>
                </a:solidFill>
                <a:latin typeface="Times New Roman" panose="02020603050405020304" pitchFamily="18" charset="0"/>
                <a:cs typeface="Times New Roman" panose="02020603050405020304" pitchFamily="18" charset="0"/>
                <a:sym typeface="+mn-ea"/>
              </a:rPr>
              <a:t>Problem Statment</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DFBC3AB-13E1-EE0F-D313-E8BFC259FADB}"/>
              </a:ext>
            </a:extLst>
          </p:cNvPr>
          <p:cNvSpPr txBox="1"/>
          <p:nvPr/>
        </p:nvSpPr>
        <p:spPr>
          <a:xfrm>
            <a:off x="578498" y="1250302"/>
            <a:ext cx="10991461" cy="3785652"/>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dirty="0"/>
              <a:t>Skin diseases are conditions that affect your skin which may cause rashes, inflammation, itchiness or other skin changes which can lead to major discomfort and pain. Generally, many tests like blood test, Patch test, Diascopy, Biopsy, </a:t>
            </a:r>
            <a:r>
              <a:rPr lang="en-US" sz="2000" dirty="0" err="1"/>
              <a:t>Dermoscopy</a:t>
            </a:r>
            <a:r>
              <a:rPr lang="en-US" sz="2000" dirty="0"/>
              <a:t> etc. are used to test skin diseases. </a:t>
            </a:r>
          </a:p>
          <a:p>
            <a:pPr marL="285750" indent="-285750" algn="just">
              <a:lnSpc>
                <a:spcPct val="150000"/>
              </a:lnSpc>
              <a:buFont typeface="Arial" panose="020B0604020202020204" pitchFamily="34" charset="0"/>
              <a:buChar char="•"/>
            </a:pPr>
            <a:r>
              <a:rPr lang="en-US" sz="2000" dirty="0"/>
              <a:t>These tests are time consuming which can lead to complications in patient’s health because of delay in diagnosis and treatment.</a:t>
            </a:r>
          </a:p>
          <a:p>
            <a:pPr marL="285750" indent="-285750" algn="just">
              <a:lnSpc>
                <a:spcPct val="150000"/>
              </a:lnSpc>
              <a:buFont typeface="Arial" panose="020B0604020202020204" pitchFamily="34" charset="0"/>
              <a:buChar char="•"/>
            </a:pPr>
            <a:r>
              <a:rPr lang="en-US" sz="2000" dirty="0"/>
              <a:t>To overcome this problem, Development of Deep learning based classification system can be helpful to detect disease earlier improving diagnostic accuracy and reducing the workload for healthcare professionals.</a:t>
            </a:r>
            <a:endParaRPr lang="en-I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TextBox 1"/>
          <p:cNvSpPr txBox="1"/>
          <p:nvPr/>
        </p:nvSpPr>
        <p:spPr>
          <a:xfrm>
            <a:off x="0" y="0"/>
            <a:ext cx="12192000" cy="76835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IN" sz="4400" b="1" dirty="0">
                <a:latin typeface="Times New Roman" panose="02020603050405020304" pitchFamily="18" charset="0"/>
                <a:cs typeface="Times New Roman" panose="02020603050405020304" pitchFamily="18" charset="0"/>
              </a:rPr>
              <a:t>OBJECTIVE</a:t>
            </a:r>
          </a:p>
        </p:txBody>
      </p:sp>
      <p:sp>
        <p:nvSpPr>
          <p:cNvPr id="13" name="Text Box 12"/>
          <p:cNvSpPr txBox="1"/>
          <p:nvPr/>
        </p:nvSpPr>
        <p:spPr>
          <a:xfrm>
            <a:off x="9831705" y="4027805"/>
            <a:ext cx="1886585" cy="1783715"/>
          </a:xfrm>
          <a:prstGeom prst="rect">
            <a:avLst/>
          </a:prstGeom>
        </p:spPr>
        <p:txBody>
          <a:bodyPr wrap="square">
            <a:noAutofit/>
          </a:bodyPr>
          <a:lstStyle/>
          <a:p>
            <a:endParaRPr sz="1600" dirty="0">
              <a:solidFill>
                <a:srgbClr val="000000"/>
              </a:solidFill>
              <a:latin typeface="Times New Roman" panose="02020603050405020304" pitchFamily="18" charset="0"/>
              <a:ea typeface="CanvaSans"/>
              <a:cs typeface="Times New Roman" panose="02020603050405020304" pitchFamily="18" charset="0"/>
            </a:endParaRPr>
          </a:p>
        </p:txBody>
      </p:sp>
      <p:sp>
        <p:nvSpPr>
          <p:cNvPr id="3" name="TextBox 2"/>
          <p:cNvSpPr txBox="1"/>
          <p:nvPr/>
        </p:nvSpPr>
        <p:spPr>
          <a:xfrm>
            <a:off x="444500" y="1104900"/>
            <a:ext cx="11531600" cy="3170099"/>
          </a:xfrm>
          <a:prstGeom prst="rect">
            <a:avLst/>
          </a:prstGeom>
          <a:noFill/>
        </p:spPr>
        <p:txBody>
          <a:bodyPr wrap="square" rtlCol="0">
            <a:spAutoFit/>
          </a:bodyPr>
          <a:lstStyle/>
          <a:p>
            <a:pPr algn="just">
              <a:lnSpc>
                <a:spcPct val="150000"/>
              </a:lnSpc>
            </a:pPr>
            <a:endParaRPr lang="en-US" sz="2000" dirty="0"/>
          </a:p>
          <a:p>
            <a:pPr marL="342900" indent="-342900" algn="just">
              <a:lnSpc>
                <a:spcPct val="150000"/>
              </a:lnSpc>
              <a:buFont typeface="Arial" panose="020B0604020202020204" pitchFamily="34" charset="0"/>
              <a:buChar char="•"/>
            </a:pPr>
            <a:r>
              <a:rPr lang="en-US" sz="2000" dirty="0"/>
              <a:t>To pre-process skin disease Image datasets collected from Kaggle.</a:t>
            </a:r>
          </a:p>
          <a:p>
            <a:pPr marL="342900" indent="-342900" algn="just">
              <a:lnSpc>
                <a:spcPct val="150000"/>
              </a:lnSpc>
              <a:buFont typeface="Arial" panose="020B0604020202020204" pitchFamily="34" charset="0"/>
              <a:buChar char="•"/>
            </a:pPr>
            <a:r>
              <a:rPr lang="en-US" sz="2000" dirty="0"/>
              <a:t>To apply different classical DL model to compare their accuracy.</a:t>
            </a:r>
          </a:p>
          <a:p>
            <a:pPr marL="342900" indent="-342900" algn="just">
              <a:lnSpc>
                <a:spcPct val="150000"/>
              </a:lnSpc>
              <a:buFont typeface="Arial" panose="020B0604020202020204" pitchFamily="34" charset="0"/>
              <a:buChar char="•"/>
            </a:pPr>
            <a:r>
              <a:rPr lang="en-US" sz="2000" dirty="0"/>
              <a:t>To develop an advanced machine learning model for accurate and efficient classification of skin diseases.</a:t>
            </a:r>
          </a:p>
          <a:p>
            <a:pPr marL="342900" indent="-342900" algn="just">
              <a:lnSpc>
                <a:spcPct val="150000"/>
              </a:lnSpc>
              <a:buFont typeface="Arial" panose="020B0604020202020204" pitchFamily="34" charset="0"/>
              <a:buChar char="•"/>
            </a:pPr>
            <a:r>
              <a:rPr lang="en-US" sz="2000" dirty="0"/>
              <a:t>To provide User-friendly API as a seamless and accessible interface for users to upload skin images and receive accurate disease predictions.</a:t>
            </a:r>
          </a:p>
          <a:p>
            <a:pPr algn="just"/>
            <a:endParaRPr lang="en-US" sz="20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82C1C-88B7-55CA-9F1A-A5EC3E805321}"/>
            </a:ext>
          </a:extLst>
        </p:cNvPr>
        <p:cNvGrpSpPr/>
        <p:nvPr/>
      </p:nvGrpSpPr>
      <p:grpSpPr>
        <a:xfrm>
          <a:off x="0" y="0"/>
          <a:ext cx="0" cy="0"/>
          <a:chOff x="0" y="0"/>
          <a:chExt cx="0" cy="0"/>
        </a:xfrm>
      </p:grpSpPr>
      <p:sp>
        <p:nvSpPr>
          <p:cNvPr id="1048593" name="TextBox 1">
            <a:extLst>
              <a:ext uri="{FF2B5EF4-FFF2-40B4-BE49-F238E27FC236}">
                <a16:creationId xmlns:a16="http://schemas.microsoft.com/office/drawing/2014/main" id="{BE2E82BE-DE10-5934-620D-B8E231CFC287}"/>
              </a:ext>
            </a:extLst>
          </p:cNvPr>
          <p:cNvSpPr txBox="1"/>
          <p:nvPr/>
        </p:nvSpPr>
        <p:spPr>
          <a:xfrm>
            <a:off x="0" y="0"/>
            <a:ext cx="12192000" cy="646331"/>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Literature Survey</a:t>
            </a:r>
            <a:endParaRPr lang="en-IN" sz="3600" b="1" dirty="0">
              <a:latin typeface="Times New Roman" panose="02020603050405020304" pitchFamily="18" charset="0"/>
              <a:cs typeface="Times New Roman" panose="02020603050405020304" pitchFamily="18" charset="0"/>
            </a:endParaRPr>
          </a:p>
        </p:txBody>
      </p:sp>
      <p:sp>
        <p:nvSpPr>
          <p:cNvPr id="13" name="Text Box 12">
            <a:extLst>
              <a:ext uri="{FF2B5EF4-FFF2-40B4-BE49-F238E27FC236}">
                <a16:creationId xmlns:a16="http://schemas.microsoft.com/office/drawing/2014/main" id="{68C108E3-935A-115D-14F6-EFFA100A8AF0}"/>
              </a:ext>
            </a:extLst>
          </p:cNvPr>
          <p:cNvSpPr txBox="1"/>
          <p:nvPr/>
        </p:nvSpPr>
        <p:spPr>
          <a:xfrm>
            <a:off x="9831705" y="4027805"/>
            <a:ext cx="1886585" cy="1783715"/>
          </a:xfrm>
          <a:prstGeom prst="rect">
            <a:avLst/>
          </a:prstGeom>
        </p:spPr>
        <p:txBody>
          <a:bodyPr wrap="square">
            <a:noAutofit/>
          </a:bodyPr>
          <a:lstStyle/>
          <a:p>
            <a:endParaRPr sz="1600" dirty="0">
              <a:solidFill>
                <a:srgbClr val="000000"/>
              </a:solidFill>
              <a:latin typeface="Times New Roman" panose="02020603050405020304" pitchFamily="18" charset="0"/>
              <a:ea typeface="CanvaSans"/>
              <a:cs typeface="Times New Roman" panose="02020603050405020304" pitchFamily="18" charset="0"/>
            </a:endParaRPr>
          </a:p>
        </p:txBody>
      </p:sp>
      <p:pic>
        <p:nvPicPr>
          <p:cNvPr id="5" name="Picture 4">
            <a:extLst>
              <a:ext uri="{FF2B5EF4-FFF2-40B4-BE49-F238E27FC236}">
                <a16:creationId xmlns:a16="http://schemas.microsoft.com/office/drawing/2014/main" id="{729446AA-1745-8FD1-76B0-A191F02FF266}"/>
              </a:ext>
            </a:extLst>
          </p:cNvPr>
          <p:cNvPicPr>
            <a:picLocks noChangeAspect="1"/>
          </p:cNvPicPr>
          <p:nvPr/>
        </p:nvPicPr>
        <p:blipFill>
          <a:blip r:embed="rId2"/>
          <a:stretch>
            <a:fillRect/>
          </a:stretch>
        </p:blipFill>
        <p:spPr>
          <a:xfrm>
            <a:off x="0" y="646331"/>
            <a:ext cx="12192000" cy="6211669"/>
          </a:xfrm>
          <a:prstGeom prst="rect">
            <a:avLst/>
          </a:prstGeom>
        </p:spPr>
      </p:pic>
    </p:spTree>
    <p:extLst>
      <p:ext uri="{BB962C8B-B14F-4D97-AF65-F5344CB8AC3E}">
        <p14:creationId xmlns:p14="http://schemas.microsoft.com/office/powerpoint/2010/main" val="2229344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5" y="952"/>
            <a:ext cx="12191365" cy="738505"/>
          </a:xfrm>
          <a:prstGeom prst="rect">
            <a:avLst/>
          </a:prstGeom>
        </p:spPr>
        <p:style>
          <a:lnRef idx="0">
            <a:schemeClr val="accent1"/>
          </a:lnRef>
          <a:fillRef idx="3">
            <a:schemeClr val="accent1"/>
          </a:fillRef>
          <a:effectRef idx="3">
            <a:schemeClr val="accent1"/>
          </a:effectRef>
          <a:fontRef idx="minor">
            <a:schemeClr val="lt1"/>
          </a:fontRef>
        </p:style>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IN" sz="4400" b="1" dirty="0">
                <a:solidFill>
                  <a:schemeClr val="bg1"/>
                </a:solidFill>
                <a:latin typeface="Times New Roman" panose="02020603050405020304" pitchFamily="18" charset="0"/>
                <a:cs typeface="Times New Roman" panose="02020603050405020304" pitchFamily="18" charset="0"/>
              </a:rPr>
              <a:t>Datasets used</a:t>
            </a:r>
          </a:p>
        </p:txBody>
      </p:sp>
      <p:sp>
        <p:nvSpPr>
          <p:cNvPr id="3" name="TextBox 2"/>
          <p:cNvSpPr txBox="1"/>
          <p:nvPr/>
        </p:nvSpPr>
        <p:spPr>
          <a:xfrm>
            <a:off x="471584" y="1079937"/>
            <a:ext cx="11248831" cy="5139869"/>
          </a:xfrm>
          <a:prstGeom prst="rect">
            <a:avLst/>
          </a:prstGeom>
          <a:noFill/>
        </p:spPr>
        <p:txBody>
          <a:bodyPr wrap="square" rtlCol="0">
            <a:spAutoFit/>
          </a:bodyPr>
          <a:lstStyle/>
          <a:p>
            <a:pPr algn="just"/>
            <a:r>
              <a:rPr lang="en-US" sz="2400" b="1" i="1" u="sng" dirty="0" err="1"/>
              <a:t>Derm</a:t>
            </a:r>
            <a:r>
              <a:rPr lang="en-US" sz="2400" b="1" i="1" u="sng" dirty="0"/>
              <a:t> Net Dataset</a:t>
            </a:r>
            <a:r>
              <a:rPr lang="en-US" sz="2400" dirty="0"/>
              <a:t> –</a:t>
            </a:r>
          </a:p>
          <a:p>
            <a:pPr algn="just"/>
            <a:endParaRPr lang="en-US" sz="2400" dirty="0"/>
          </a:p>
          <a:p>
            <a:pPr marL="342900" indent="-342900">
              <a:buFont typeface="Arial" pitchFamily="34" charset="0"/>
              <a:buChar char="•"/>
            </a:pPr>
            <a:r>
              <a:rPr lang="en-US" dirty="0"/>
              <a:t>The dataset used in this project consists of </a:t>
            </a:r>
            <a:r>
              <a:rPr lang="en-US" b="1" dirty="0"/>
              <a:t>approximately 16,000 dermatological images</a:t>
            </a:r>
            <a:r>
              <a:rPr lang="en-US" dirty="0"/>
              <a:t> collected from various sources.</a:t>
            </a:r>
            <a:br>
              <a:rPr lang="en-US" dirty="0"/>
            </a:br>
            <a:r>
              <a:rPr lang="en-US" dirty="0"/>
              <a:t>It is designed for </a:t>
            </a:r>
            <a:r>
              <a:rPr lang="en-US" b="1" dirty="0"/>
              <a:t>multi-class skin disease classification</a:t>
            </a:r>
            <a:r>
              <a:rPr lang="en-US" dirty="0"/>
              <a:t> using deep learning techniques.</a:t>
            </a:r>
          </a:p>
          <a:p>
            <a:pPr marL="342900" indent="-342900">
              <a:buFont typeface="Arial" pitchFamily="34" charset="0"/>
              <a:buChar char="•"/>
            </a:pPr>
            <a:r>
              <a:rPr lang="en-US" dirty="0"/>
              <a:t>The dataset includes both </a:t>
            </a:r>
            <a:r>
              <a:rPr lang="en-US" b="1" dirty="0"/>
              <a:t>diseased and normal skin images</a:t>
            </a:r>
            <a:r>
              <a:rPr lang="en-US" dirty="0"/>
              <a:t>, enabling the model to distinguish between healthy and affected conditions.</a:t>
            </a:r>
          </a:p>
          <a:p>
            <a:pPr marL="342900" indent="-342900">
              <a:buFont typeface="Arial" pitchFamily="34" charset="0"/>
              <a:buChar char="•"/>
            </a:pPr>
            <a:r>
              <a:rPr lang="en-US" dirty="0"/>
              <a:t>The dataset contains </a:t>
            </a:r>
            <a:r>
              <a:rPr lang="en-US" b="1" dirty="0"/>
              <a:t>23 classes</a:t>
            </a:r>
            <a:r>
              <a:rPr lang="en-US" dirty="0"/>
              <a:t> representing different skin conditions:</a:t>
            </a:r>
          </a:p>
          <a:p>
            <a:endParaRPr lang="en-US" sz="2400" dirty="0"/>
          </a:p>
          <a:p>
            <a:r>
              <a:rPr lang="en-US" sz="2000" b="1" dirty="0"/>
              <a:t>Dataset Characteristics</a:t>
            </a:r>
          </a:p>
          <a:p>
            <a:endParaRPr lang="en-US" sz="2000" b="1" dirty="0"/>
          </a:p>
          <a:p>
            <a:r>
              <a:rPr lang="en-US" dirty="0"/>
              <a:t>Total Images: </a:t>
            </a:r>
            <a:r>
              <a:rPr lang="en-US" b="1" dirty="0"/>
              <a:t>~16,000</a:t>
            </a:r>
            <a:r>
              <a:rPr lang="en-US" dirty="0"/>
              <a:t> </a:t>
            </a:r>
          </a:p>
          <a:p>
            <a:r>
              <a:rPr lang="en-US" dirty="0"/>
              <a:t>Number of Classes: </a:t>
            </a:r>
            <a:r>
              <a:rPr lang="en-US" b="1" dirty="0"/>
              <a:t>23</a:t>
            </a:r>
            <a:r>
              <a:rPr lang="en-US" dirty="0"/>
              <a:t> </a:t>
            </a:r>
          </a:p>
          <a:p>
            <a:r>
              <a:rPr lang="en-US" dirty="0"/>
              <a:t>Image Type: </a:t>
            </a:r>
            <a:r>
              <a:rPr lang="en-US" b="1" dirty="0"/>
              <a:t>RGB images</a:t>
            </a:r>
            <a:r>
              <a:rPr lang="en-US" dirty="0"/>
              <a:t> </a:t>
            </a:r>
          </a:p>
          <a:p>
            <a:r>
              <a:rPr lang="en-US" dirty="0"/>
              <a:t>Problem Type: </a:t>
            </a:r>
            <a:r>
              <a:rPr lang="en-US" b="1" dirty="0"/>
              <a:t>Multi-class classification</a:t>
            </a:r>
            <a:endParaRPr lang="en-US" dirty="0"/>
          </a:p>
          <a:p>
            <a:endParaRPr lang="en-US" dirty="0"/>
          </a:p>
          <a:p>
            <a:pPr algn="just"/>
            <a:r>
              <a:rPr lang="en-US" dirty="0"/>
              <a:t> </a:t>
            </a:r>
            <a:endParaRPr lang="en-US" sz="2400" dirty="0"/>
          </a:p>
        </p:txBody>
      </p:sp>
    </p:spTree>
    <p:extLst>
      <p:ext uri="{BB962C8B-B14F-4D97-AF65-F5344CB8AC3E}">
        <p14:creationId xmlns:p14="http://schemas.microsoft.com/office/powerpoint/2010/main" val="641391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95A52-2F8C-6127-FD40-E71DCBDDCEC4}"/>
              </a:ext>
            </a:extLst>
          </p:cNvPr>
          <p:cNvSpPr>
            <a:spLocks noGrp="1"/>
          </p:cNvSpPr>
          <p:nvPr>
            <p:ph type="title"/>
          </p:nvPr>
        </p:nvSpPr>
        <p:spPr/>
        <p:txBody>
          <a:bodyPr/>
          <a:lstStyle/>
          <a:p>
            <a:r>
              <a:rPr lang="en-IN" b="1" dirty="0">
                <a:solidFill>
                  <a:schemeClr val="bg1"/>
                </a:solidFill>
                <a:latin typeface="Times New Roman" panose="02020603050405020304" pitchFamily="18" charset="0"/>
                <a:cs typeface="Times New Roman" panose="02020603050405020304" pitchFamily="18" charset="0"/>
              </a:rPr>
              <a:t>Proposed Method for skin Diseases Classification</a:t>
            </a:r>
            <a:endParaRPr lang="en-IN" dirty="0"/>
          </a:p>
        </p:txBody>
      </p:sp>
      <p:sp>
        <p:nvSpPr>
          <p:cNvPr id="3" name="TextBox 1">
            <a:extLst>
              <a:ext uri="{FF2B5EF4-FFF2-40B4-BE49-F238E27FC236}">
                <a16:creationId xmlns:a16="http://schemas.microsoft.com/office/drawing/2014/main" id="{E0CE98C2-7CD7-FCB0-45F0-1086C019C4DC}"/>
              </a:ext>
            </a:extLst>
          </p:cNvPr>
          <p:cNvSpPr txBox="1"/>
          <p:nvPr/>
        </p:nvSpPr>
        <p:spPr>
          <a:xfrm>
            <a:off x="0" y="-92597"/>
            <a:ext cx="12192000" cy="546911"/>
          </a:xfrm>
          <a:prstGeom prst="rect">
            <a:avLst/>
          </a:prstGeom>
        </p:spPr>
        <p:style>
          <a:lnRef idx="0">
            <a:schemeClr val="accent1"/>
          </a:lnRef>
          <a:fillRef idx="3">
            <a:schemeClr val="accent1"/>
          </a:fillRef>
          <a:effectRef idx="3">
            <a:schemeClr val="accent1"/>
          </a:effectRef>
          <a:fontRef idx="minor">
            <a:schemeClr val="lt1"/>
          </a:fontRef>
        </p:style>
        <p:txBody>
          <a:bodyPr wrap="square" rtlCol="0">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en-IN" sz="2800" b="1" dirty="0">
                <a:latin typeface="Times New Roman" panose="02020603050405020304" pitchFamily="18" charset="0"/>
                <a:cs typeface="Times New Roman" panose="02020603050405020304" pitchFamily="18" charset="0"/>
              </a:rPr>
              <a:t>   </a:t>
            </a:r>
            <a:r>
              <a:rPr lang="en-IN" sz="2800" b="1" dirty="0">
                <a:solidFill>
                  <a:schemeClr val="bg1"/>
                </a:solidFill>
                <a:latin typeface="Times New Roman" panose="02020603050405020304" pitchFamily="18" charset="0"/>
                <a:cs typeface="Times New Roman" panose="02020603050405020304" pitchFamily="18" charset="0"/>
              </a:rPr>
              <a:t>Proposed Method for using Transformer model</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564776"/>
            <a:ext cx="10058400" cy="5941358"/>
          </a:xfrm>
          <a:prstGeom prst="rect">
            <a:avLst/>
          </a:prstGeom>
        </p:spPr>
      </p:pic>
    </p:spTree>
    <p:extLst>
      <p:ext uri="{BB962C8B-B14F-4D97-AF65-F5344CB8AC3E}">
        <p14:creationId xmlns:p14="http://schemas.microsoft.com/office/powerpoint/2010/main" val="1515216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E5DD7-C794-E71B-271E-F5F865724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0881D-C856-2E8E-EDC7-CCA7232615F8}"/>
              </a:ext>
            </a:extLst>
          </p:cNvPr>
          <p:cNvSpPr>
            <a:spLocks noGrp="1"/>
          </p:cNvSpPr>
          <p:nvPr>
            <p:ph type="title"/>
          </p:nvPr>
        </p:nvSpPr>
        <p:spPr/>
        <p:txBody>
          <a:bodyPr/>
          <a:lstStyle/>
          <a:p>
            <a:r>
              <a:rPr lang="en-IN" b="1" dirty="0">
                <a:solidFill>
                  <a:schemeClr val="bg1"/>
                </a:solidFill>
                <a:latin typeface="Times New Roman" panose="02020603050405020304" pitchFamily="18" charset="0"/>
                <a:cs typeface="Times New Roman" panose="02020603050405020304" pitchFamily="18" charset="0"/>
              </a:rPr>
              <a:t>Proposed Method for skin Diseases Classification</a:t>
            </a:r>
            <a:endParaRPr lang="en-IN" dirty="0"/>
          </a:p>
        </p:txBody>
      </p:sp>
      <p:sp>
        <p:nvSpPr>
          <p:cNvPr id="3" name="TextBox 1">
            <a:extLst>
              <a:ext uri="{FF2B5EF4-FFF2-40B4-BE49-F238E27FC236}">
                <a16:creationId xmlns:a16="http://schemas.microsoft.com/office/drawing/2014/main" id="{AB2A3D7E-41C0-6933-E576-55C375D85ABB}"/>
              </a:ext>
            </a:extLst>
          </p:cNvPr>
          <p:cNvSpPr txBox="1"/>
          <p:nvPr/>
        </p:nvSpPr>
        <p:spPr>
          <a:xfrm>
            <a:off x="0" y="0"/>
            <a:ext cx="12192000" cy="546911"/>
          </a:xfrm>
          <a:prstGeom prst="rect">
            <a:avLst/>
          </a:prstGeom>
        </p:spPr>
        <p:style>
          <a:lnRef idx="0">
            <a:schemeClr val="accent1"/>
          </a:lnRef>
          <a:fillRef idx="3">
            <a:schemeClr val="accent1"/>
          </a:fillRef>
          <a:effectRef idx="3">
            <a:schemeClr val="accent1"/>
          </a:effectRef>
          <a:fontRef idx="minor">
            <a:schemeClr val="lt1"/>
          </a:fontRef>
        </p:style>
        <p:txBody>
          <a:bodyPr wrap="square" rtlCol="0">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en-IN" sz="2800" b="1" dirty="0">
                <a:latin typeface="Times New Roman" panose="02020603050405020304" pitchFamily="18" charset="0"/>
                <a:cs typeface="Times New Roman" panose="02020603050405020304" pitchFamily="18" charset="0"/>
              </a:rPr>
              <a:t>   </a:t>
            </a:r>
            <a:r>
              <a:rPr lang="en-IN" sz="2800" b="1" dirty="0">
                <a:solidFill>
                  <a:schemeClr val="bg1"/>
                </a:solidFill>
                <a:latin typeface="Times New Roman" panose="02020603050405020304" pitchFamily="18" charset="0"/>
                <a:cs typeface="Times New Roman" panose="02020603050405020304" pitchFamily="18" charset="0"/>
              </a:rPr>
              <a:t>Proposed Method using Transformer model</a:t>
            </a:r>
          </a:p>
        </p:txBody>
      </p:sp>
      <p:sp>
        <p:nvSpPr>
          <p:cNvPr id="6" name="TextBox 5">
            <a:extLst>
              <a:ext uri="{FF2B5EF4-FFF2-40B4-BE49-F238E27FC236}">
                <a16:creationId xmlns:a16="http://schemas.microsoft.com/office/drawing/2014/main" id="{4C4B539A-F503-5EE7-6EC1-9FF4BFC99557}"/>
              </a:ext>
            </a:extLst>
          </p:cNvPr>
          <p:cNvSpPr txBox="1"/>
          <p:nvPr/>
        </p:nvSpPr>
        <p:spPr>
          <a:xfrm>
            <a:off x="624592" y="969321"/>
            <a:ext cx="11882718" cy="5309146"/>
          </a:xfrm>
          <a:prstGeom prst="rect">
            <a:avLst/>
          </a:prstGeom>
          <a:noFill/>
        </p:spPr>
        <p:txBody>
          <a:bodyPr wrap="square" rtlCol="0">
            <a:spAutoFit/>
          </a:bodyPr>
          <a:lstStyle/>
          <a:p>
            <a:pPr marL="457200" indent="-457200">
              <a:lnSpc>
                <a:spcPct val="150000"/>
              </a:lnSpc>
              <a:buAutoNum type="arabicPeriod"/>
            </a:pPr>
            <a:r>
              <a:rPr lang="en-US" sz="2000" dirty="0"/>
              <a:t>Data Preprocessing:</a:t>
            </a:r>
          </a:p>
          <a:p>
            <a:pPr marL="285750" indent="-285750">
              <a:lnSpc>
                <a:spcPct val="150000"/>
              </a:lnSpc>
              <a:buFont typeface="Arial" pitchFamily="34" charset="0"/>
              <a:buChar char="•"/>
            </a:pPr>
            <a:r>
              <a:rPr lang="en-US" dirty="0"/>
              <a:t>Data preprocessing ensures that raw skin images are transformed into a format suitable for model training.</a:t>
            </a:r>
          </a:p>
          <a:p>
            <a:pPr marL="742950" lvl="1" indent="-285750">
              <a:buFont typeface="Arial" panose="020B0604020202020204" pitchFamily="34" charset="0"/>
              <a:buChar char="•"/>
            </a:pPr>
            <a:r>
              <a:rPr lang="en-US" dirty="0"/>
              <a:t>      </a:t>
            </a:r>
            <a:r>
              <a:rPr lang="en-US" b="1" dirty="0"/>
              <a:t>Resizing:</a:t>
            </a:r>
            <a:r>
              <a:rPr lang="en-US" dirty="0"/>
              <a:t> All images are resized (e.g., 224×224) to maintain uniform input dimensions .</a:t>
            </a:r>
          </a:p>
          <a:p>
            <a:pPr marL="742950" lvl="1" indent="-285750">
              <a:buFont typeface="Arial" panose="020B0604020202020204" pitchFamily="34" charset="0"/>
              <a:buChar char="•"/>
            </a:pPr>
            <a:r>
              <a:rPr lang="en-US" b="1" dirty="0"/>
              <a:t>      Normalization:</a:t>
            </a:r>
            <a:r>
              <a:rPr lang="en-US" dirty="0"/>
              <a:t> Pixel values are scaled (0–1 or mean-</a:t>
            </a:r>
            <a:r>
              <a:rPr lang="en-US" dirty="0" err="1"/>
              <a:t>std</a:t>
            </a:r>
            <a:r>
              <a:rPr lang="en-US" dirty="0"/>
              <a:t> normalization) to stabilize training .</a:t>
            </a:r>
          </a:p>
          <a:p>
            <a:pPr marL="742950" lvl="1" indent="-285750">
              <a:buFont typeface="Arial" panose="020B0604020202020204" pitchFamily="34" charset="0"/>
              <a:buChar char="•"/>
            </a:pPr>
            <a:r>
              <a:rPr lang="en-US" b="1" dirty="0"/>
              <a:t>      Label Encoding:</a:t>
            </a:r>
            <a:r>
              <a:rPr lang="en-US" dirty="0"/>
              <a:t> Class labels are converted into numerical format .</a:t>
            </a:r>
          </a:p>
          <a:p>
            <a:pPr marL="742950" lvl="1" indent="-285750">
              <a:buFont typeface="Arial" panose="020B0604020202020204" pitchFamily="34" charset="0"/>
              <a:buChar char="•"/>
            </a:pPr>
            <a:r>
              <a:rPr lang="en-US" b="1" dirty="0"/>
              <a:t>      Data Augmentation:</a:t>
            </a:r>
            <a:r>
              <a:rPr lang="en-US" dirty="0"/>
              <a:t> Techniques like rotation, flipping, and zooming are applied to increase dataset diversity.</a:t>
            </a:r>
          </a:p>
          <a:p>
            <a:pPr lvl="1"/>
            <a:endParaRPr lang="en-US" sz="2400" dirty="0"/>
          </a:p>
          <a:p>
            <a:r>
              <a:rPr lang="fr-FR" sz="2000" dirty="0"/>
              <a:t> 2. Model Architecture (Vision Transformer - </a:t>
            </a:r>
            <a:r>
              <a:rPr lang="fr-FR" sz="2000" dirty="0" err="1"/>
              <a:t>ViT</a:t>
            </a:r>
            <a:r>
              <a:rPr lang="fr-FR" sz="2000" dirty="0"/>
              <a:t>)</a:t>
            </a:r>
          </a:p>
          <a:p>
            <a:r>
              <a:rPr lang="fr-FR" sz="2000" dirty="0"/>
              <a:t> </a:t>
            </a:r>
            <a:r>
              <a:rPr lang="en-US" b="1" dirty="0"/>
              <a:t>Core Components:</a:t>
            </a:r>
          </a:p>
          <a:p>
            <a:pPr marL="742950" lvl="1" indent="-285750">
              <a:buFont typeface="Arial" panose="020B0604020202020204" pitchFamily="34" charset="0"/>
              <a:buChar char="•"/>
            </a:pPr>
            <a:r>
              <a:rPr lang="en-US" b="1" dirty="0"/>
              <a:t> Patch Creation:</a:t>
            </a:r>
            <a:r>
              <a:rPr lang="en-US" dirty="0"/>
              <a:t> Image is divided into fixed-size patches </a:t>
            </a:r>
          </a:p>
          <a:p>
            <a:pPr marL="742950" lvl="1" indent="-285750">
              <a:buFont typeface="Arial" panose="020B0604020202020204" pitchFamily="34" charset="0"/>
              <a:buChar char="•"/>
            </a:pPr>
            <a:r>
              <a:rPr lang="en-US" b="1" dirty="0"/>
              <a:t> Patch Embedding:</a:t>
            </a:r>
            <a:r>
              <a:rPr lang="en-US" dirty="0"/>
              <a:t> Each patch is flattened and converted into a vector </a:t>
            </a:r>
          </a:p>
          <a:p>
            <a:pPr marL="742950" lvl="1" indent="-285750">
              <a:buFont typeface="Arial" panose="020B0604020202020204" pitchFamily="34" charset="0"/>
              <a:buChar char="•"/>
            </a:pPr>
            <a:r>
              <a:rPr lang="en-US" b="1" dirty="0"/>
              <a:t> Positional Encoding:</a:t>
            </a:r>
            <a:r>
              <a:rPr lang="en-US" dirty="0"/>
              <a:t> Adds spatial information to patches </a:t>
            </a:r>
          </a:p>
          <a:p>
            <a:pPr marL="742950" lvl="1" indent="-285750">
              <a:buFont typeface="Arial" panose="020B0604020202020204" pitchFamily="34" charset="0"/>
              <a:buChar char="•"/>
            </a:pPr>
            <a:r>
              <a:rPr lang="en-US" b="1" dirty="0"/>
              <a:t> Transformer Encoder:</a:t>
            </a:r>
            <a:r>
              <a:rPr lang="en-US" dirty="0"/>
              <a:t> </a:t>
            </a:r>
          </a:p>
          <a:p>
            <a:pPr marL="1200150" lvl="2" indent="-285750">
              <a:buFont typeface="Wingdings" panose="05000000000000000000" pitchFamily="2" charset="2"/>
              <a:buChar char="§"/>
            </a:pPr>
            <a:r>
              <a:rPr lang="en-US" dirty="0"/>
              <a:t>Multi-head self-attention </a:t>
            </a:r>
          </a:p>
          <a:p>
            <a:pPr marL="1200150" lvl="2" indent="-285750">
              <a:buFont typeface="Wingdings" panose="05000000000000000000" pitchFamily="2" charset="2"/>
              <a:buChar char="§"/>
            </a:pPr>
            <a:r>
              <a:rPr lang="en-US" dirty="0"/>
              <a:t>Feed-forward neural network </a:t>
            </a:r>
          </a:p>
          <a:p>
            <a:pPr marL="742950" lvl="1" indent="-285750">
              <a:buFont typeface="Arial" panose="020B0604020202020204" pitchFamily="34" charset="0"/>
              <a:buChar char="•"/>
            </a:pPr>
            <a:r>
              <a:rPr lang="en-US" b="1" dirty="0"/>
              <a:t>Classification Head:</a:t>
            </a:r>
            <a:r>
              <a:rPr lang="en-US" dirty="0"/>
              <a:t> Fully connected layer + </a:t>
            </a:r>
            <a:r>
              <a:rPr lang="en-US" dirty="0" err="1"/>
              <a:t>Softmax</a:t>
            </a:r>
            <a:r>
              <a:rPr lang="en-US" dirty="0"/>
              <a:t> for final prediction</a:t>
            </a:r>
          </a:p>
          <a:p>
            <a:endParaRPr lang="en-US" sz="2000" dirty="0"/>
          </a:p>
        </p:txBody>
      </p:sp>
    </p:spTree>
    <p:extLst>
      <p:ext uri="{BB962C8B-B14F-4D97-AF65-F5344CB8AC3E}">
        <p14:creationId xmlns:p14="http://schemas.microsoft.com/office/powerpoint/2010/main" val="2759044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01365A56-3D22-1F4C-1ED6-1343A04F879E}"/>
              </a:ext>
            </a:extLst>
          </p:cNvPr>
          <p:cNvSpPr txBox="1"/>
          <p:nvPr/>
        </p:nvSpPr>
        <p:spPr>
          <a:xfrm>
            <a:off x="0" y="0"/>
            <a:ext cx="12192000" cy="61582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en-IN" sz="3200" b="1" dirty="0">
                <a:solidFill>
                  <a:schemeClr val="bg1"/>
                </a:solidFill>
                <a:latin typeface="Times New Roman" panose="02020603050405020304" pitchFamily="18" charset="0"/>
                <a:cs typeface="Times New Roman" panose="02020603050405020304" pitchFamily="18" charset="0"/>
              </a:rPr>
              <a:t>Proposed Method using Transformer model</a:t>
            </a:r>
          </a:p>
        </p:txBody>
      </p:sp>
      <p:sp>
        <p:nvSpPr>
          <p:cNvPr id="2" name="TextBox 1"/>
          <p:cNvSpPr txBox="1"/>
          <p:nvPr/>
        </p:nvSpPr>
        <p:spPr>
          <a:xfrm>
            <a:off x="233082" y="981635"/>
            <a:ext cx="11725836" cy="2585323"/>
          </a:xfrm>
          <a:prstGeom prst="rect">
            <a:avLst/>
          </a:prstGeom>
          <a:noFill/>
        </p:spPr>
        <p:txBody>
          <a:bodyPr wrap="square" rtlCol="0">
            <a:spAutoFit/>
          </a:bodyPr>
          <a:lstStyle/>
          <a:p>
            <a:r>
              <a:rPr lang="en-US" b="1" dirty="0"/>
              <a:t>3. Training Process</a:t>
            </a:r>
          </a:p>
          <a:p>
            <a:r>
              <a:rPr lang="en-US" dirty="0"/>
              <a:t>The model learns patterns from training data through iterative optimization.</a:t>
            </a:r>
          </a:p>
          <a:p>
            <a:endParaRPr lang="en-US" dirty="0"/>
          </a:p>
          <a:p>
            <a:pPr lvl="1"/>
            <a:r>
              <a:rPr lang="en-US" b="1" dirty="0"/>
              <a:t>Steps:</a:t>
            </a:r>
          </a:p>
          <a:p>
            <a:pPr marL="742950" lvl="1" indent="-285750">
              <a:buFont typeface="Arial" panose="020B0604020202020204" pitchFamily="34" charset="0"/>
              <a:buChar char="•"/>
            </a:pPr>
            <a:r>
              <a:rPr lang="en-US" dirty="0"/>
              <a:t>Input images are passed through the </a:t>
            </a:r>
            <a:r>
              <a:rPr lang="en-US" dirty="0" err="1"/>
              <a:t>ViT</a:t>
            </a:r>
            <a:r>
              <a:rPr lang="en-US" dirty="0"/>
              <a:t> model.</a:t>
            </a:r>
          </a:p>
          <a:p>
            <a:pPr marL="742950" lvl="1" indent="-285750">
              <a:buFont typeface="Arial" panose="020B0604020202020204" pitchFamily="34" charset="0"/>
              <a:buChar char="•"/>
            </a:pPr>
            <a:r>
              <a:rPr lang="en-US" dirty="0"/>
              <a:t>Predictions are generated </a:t>
            </a:r>
          </a:p>
          <a:p>
            <a:pPr marL="742950" lvl="1" indent="-285750">
              <a:buFont typeface="Arial" panose="020B0604020202020204" pitchFamily="34" charset="0"/>
              <a:buChar char="•"/>
            </a:pPr>
            <a:r>
              <a:rPr lang="en-US" dirty="0"/>
              <a:t>Calculates error </a:t>
            </a:r>
          </a:p>
          <a:p>
            <a:pPr marL="742950" lvl="1" indent="-285750">
              <a:buFont typeface="Arial" panose="020B0604020202020204" pitchFamily="34" charset="0"/>
              <a:buChar char="•"/>
            </a:pPr>
            <a:r>
              <a:rPr lang="en-US" dirty="0"/>
              <a:t>Updates model weights </a:t>
            </a:r>
          </a:p>
          <a:p>
            <a:endParaRPr lang="en-US" dirty="0"/>
          </a:p>
        </p:txBody>
      </p:sp>
    </p:spTree>
    <p:extLst>
      <p:ext uri="{BB962C8B-B14F-4D97-AF65-F5344CB8AC3E}">
        <p14:creationId xmlns:p14="http://schemas.microsoft.com/office/powerpoint/2010/main" val="474269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365A56-3D22-1F4C-1ED6-1343A04F879E}"/>
              </a:ext>
            </a:extLst>
          </p:cNvPr>
          <p:cNvSpPr txBox="1"/>
          <p:nvPr/>
        </p:nvSpPr>
        <p:spPr>
          <a:xfrm>
            <a:off x="0" y="0"/>
            <a:ext cx="12192000" cy="61582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en-IN" sz="3200" b="1" dirty="0" err="1">
                <a:solidFill>
                  <a:schemeClr val="bg1"/>
                </a:solidFill>
                <a:latin typeface="Times New Roman" panose="02020603050405020304" pitchFamily="18" charset="0"/>
                <a:cs typeface="Times New Roman" panose="02020603050405020304" pitchFamily="18" charset="0"/>
              </a:rPr>
              <a:t>Comparision</a:t>
            </a:r>
            <a:r>
              <a:rPr lang="en-IN" sz="3200" b="1" dirty="0">
                <a:solidFill>
                  <a:schemeClr val="bg1"/>
                </a:solidFill>
                <a:latin typeface="Times New Roman" panose="02020603050405020304" pitchFamily="18" charset="0"/>
                <a:cs typeface="Times New Roman" panose="02020603050405020304" pitchFamily="18" charset="0"/>
              </a:rPr>
              <a:t> of models</a:t>
            </a:r>
          </a:p>
        </p:txBody>
      </p:sp>
      <p:graphicFrame>
        <p:nvGraphicFramePr>
          <p:cNvPr id="3" name="Table 2"/>
          <p:cNvGraphicFramePr>
            <a:graphicFrameLocks noGrp="1"/>
          </p:cNvGraphicFramePr>
          <p:nvPr>
            <p:extLst>
              <p:ext uri="{D42A27DB-BD31-4B8C-83A1-F6EECF244321}">
                <p14:modId xmlns:p14="http://schemas.microsoft.com/office/powerpoint/2010/main" val="1233347525"/>
              </p:ext>
            </p:extLst>
          </p:nvPr>
        </p:nvGraphicFramePr>
        <p:xfrm>
          <a:off x="1038506" y="1291639"/>
          <a:ext cx="9907399" cy="4826772"/>
        </p:xfrm>
        <a:graphic>
          <a:graphicData uri="http://schemas.openxmlformats.org/drawingml/2006/table">
            <a:tbl>
              <a:tblPr/>
              <a:tblGrid>
                <a:gridCol w="2229098">
                  <a:extLst>
                    <a:ext uri="{9D8B030D-6E8A-4147-A177-3AD203B41FA5}">
                      <a16:colId xmlns:a16="http://schemas.microsoft.com/office/drawing/2014/main" val="20000"/>
                    </a:ext>
                  </a:extLst>
                </a:gridCol>
                <a:gridCol w="2229098">
                  <a:extLst>
                    <a:ext uri="{9D8B030D-6E8A-4147-A177-3AD203B41FA5}">
                      <a16:colId xmlns:a16="http://schemas.microsoft.com/office/drawing/2014/main" val="20001"/>
                    </a:ext>
                  </a:extLst>
                </a:gridCol>
                <a:gridCol w="3220105">
                  <a:extLst>
                    <a:ext uri="{9D8B030D-6E8A-4147-A177-3AD203B41FA5}">
                      <a16:colId xmlns:a16="http://schemas.microsoft.com/office/drawing/2014/main" val="20002"/>
                    </a:ext>
                  </a:extLst>
                </a:gridCol>
                <a:gridCol w="2229098">
                  <a:extLst>
                    <a:ext uri="{9D8B030D-6E8A-4147-A177-3AD203B41FA5}">
                      <a16:colId xmlns:a16="http://schemas.microsoft.com/office/drawing/2014/main" val="20003"/>
                    </a:ext>
                  </a:extLst>
                </a:gridCol>
              </a:tblGrid>
              <a:tr h="520622">
                <a:tc>
                  <a:txBody>
                    <a:bodyPr/>
                    <a:lstStyle/>
                    <a:p>
                      <a:r>
                        <a:rPr lang="en-US" sz="1400" b="1" dirty="0"/>
                        <a:t>Parameter</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400" dirty="0"/>
                        <a:t>  </a:t>
                      </a:r>
                      <a:r>
                        <a:rPr lang="fr-FR" sz="1400" b="1" dirty="0"/>
                        <a:t>MSID  (</a:t>
                      </a:r>
                      <a:r>
                        <a:rPr lang="fr-FR" sz="1400" b="1" dirty="0" err="1"/>
                        <a:t>EfficientNet</a:t>
                      </a:r>
                      <a:r>
                        <a:rPr lang="fr-FR" sz="1400" b="1" dirty="0"/>
                        <a:t>        Model)</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1400" baseline="0" dirty="0"/>
                        <a:t>  </a:t>
                      </a:r>
                      <a:r>
                        <a:rPr lang="fr-FR" sz="1400" b="1" baseline="0" dirty="0"/>
                        <a:t>DERMNET </a:t>
                      </a:r>
                      <a:r>
                        <a:rPr lang="fr-FR" sz="1400" b="1" dirty="0"/>
                        <a:t>(</a:t>
                      </a:r>
                      <a:r>
                        <a:rPr lang="fr-FR" sz="1400" b="1" dirty="0" err="1"/>
                        <a:t>EfficientNet</a:t>
                      </a:r>
                      <a:r>
                        <a:rPr lang="fr-FR" sz="1400" b="1" dirty="0"/>
                        <a:t> model )</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err="1"/>
                        <a:t>ViT</a:t>
                      </a:r>
                      <a:r>
                        <a:rPr lang="en-US" sz="1400" b="1" dirty="0"/>
                        <a:t> Model (Transformer)</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20622">
                <a:tc>
                  <a:txBody>
                    <a:bodyPr/>
                    <a:lstStyle/>
                    <a:p>
                      <a:r>
                        <a:rPr lang="en-US" sz="1400" b="1"/>
                        <a:t>Dataset Used</a:t>
                      </a:r>
                      <a:endParaRPr lang="en-US" sz="140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Small dataset (MSID)</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Large </a:t>
                      </a:r>
                      <a:r>
                        <a:rPr lang="en-US" sz="1400" dirty="0" err="1"/>
                        <a:t>DermNet</a:t>
                      </a:r>
                      <a:r>
                        <a:rPr lang="en-US" sz="1400" dirty="0"/>
                        <a:t> (~19,000 images)</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Medium dataset (~16,000 images)</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97077">
                <a:tc>
                  <a:txBody>
                    <a:bodyPr/>
                    <a:lstStyle/>
                    <a:p>
                      <a:r>
                        <a:rPr lang="en-US" sz="1400" b="1"/>
                        <a:t>No. of Classes</a:t>
                      </a:r>
                      <a:endParaRPr lang="en-US" sz="140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4</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23</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23</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20622">
                <a:tc>
                  <a:txBody>
                    <a:bodyPr/>
                    <a:lstStyle/>
                    <a:p>
                      <a:r>
                        <a:rPr lang="en-US" sz="1400" b="1"/>
                        <a:t>Model Used</a:t>
                      </a:r>
                      <a:endParaRPr lang="en-US" sz="140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EfficientNet (CNN + Transfer Learning)</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EfficientNet (CNN + Transfer Learning)</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Vision Transformer (ViT)</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97077">
                <a:tc>
                  <a:txBody>
                    <a:bodyPr/>
                    <a:lstStyle/>
                    <a:p>
                      <a:r>
                        <a:rPr lang="en-US" sz="1400" b="1"/>
                        <a:t>Model Complexity</a:t>
                      </a:r>
                      <a:endParaRPr lang="en-US" sz="140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Low</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high</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High</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14732">
                <a:tc>
                  <a:txBody>
                    <a:bodyPr/>
                    <a:lstStyle/>
                    <a:p>
                      <a:r>
                        <a:rPr lang="en-US" sz="1400" b="1"/>
                        <a:t>Data Complexity</a:t>
                      </a:r>
                      <a:endParaRPr lang="en-US" sz="140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Low (distinct classes)</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High </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High</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20622">
                <a:tc>
                  <a:txBody>
                    <a:bodyPr/>
                    <a:lstStyle/>
                    <a:p>
                      <a:r>
                        <a:rPr lang="en-US" sz="1400" b="1"/>
                        <a:t>Accuracy</a:t>
                      </a:r>
                      <a:endParaRPr lang="en-US" sz="140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High (87%)</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Moderate (~40–42%)</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Higher (70%)</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520622">
                <a:tc>
                  <a:txBody>
                    <a:bodyPr/>
                    <a:lstStyle/>
                    <a:p>
                      <a:r>
                        <a:rPr lang="en-US" sz="1400" b="1" dirty="0"/>
                        <a:t>Training Time</a:t>
                      </a:r>
                      <a:endParaRPr lang="en-US" sz="1400" dirty="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Fast</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Moderate</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Slow (heavy computation)</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97077">
                <a:tc>
                  <a:txBody>
                    <a:bodyPr/>
                    <a:lstStyle/>
                    <a:p>
                      <a:r>
                        <a:rPr lang="en-US" sz="1400" b="1"/>
                        <a:t>Overfitting Risk</a:t>
                      </a:r>
                      <a:endParaRPr lang="en-US" sz="140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High (small data)</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low (class imbalance)</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Low–Medium</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97077">
                <a:tc>
                  <a:txBody>
                    <a:bodyPr/>
                    <a:lstStyle/>
                    <a:p>
                      <a:r>
                        <a:rPr lang="en-US" sz="1400" b="1" dirty="0"/>
                        <a:t>Problem:</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err="1"/>
                        <a:t>overfit</a:t>
                      </a:r>
                      <a:r>
                        <a:rPr lang="en-US" sz="1400" dirty="0"/>
                        <a:t> due to small dataset</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Class imbalance</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Longer training  time</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520622">
                <a:tc>
                  <a:txBody>
                    <a:bodyPr/>
                    <a:lstStyle/>
                    <a:p>
                      <a:r>
                        <a:rPr lang="en-US" sz="1400" b="1"/>
                        <a:t>Confusion Between Classes</a:t>
                      </a:r>
                      <a:endParaRPr lang="en-US" sz="1400"/>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Low</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High</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Lower than CNN</a:t>
                      </a:r>
                    </a:p>
                  </a:txBody>
                  <a:tcPr marL="70183" marR="70183" marT="35091" marB="350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61754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365A56-3D22-1F4C-1ED6-1343A04F879E}"/>
              </a:ext>
            </a:extLst>
          </p:cNvPr>
          <p:cNvSpPr txBox="1"/>
          <p:nvPr/>
        </p:nvSpPr>
        <p:spPr>
          <a:xfrm>
            <a:off x="0" y="0"/>
            <a:ext cx="12192000" cy="61582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en-IN" sz="3200" b="1" dirty="0">
                <a:solidFill>
                  <a:schemeClr val="bg1"/>
                </a:solidFill>
                <a:latin typeface="Times New Roman" panose="02020603050405020304" pitchFamily="18" charset="0"/>
                <a:cs typeface="Times New Roman" panose="02020603050405020304" pitchFamily="18" charset="0"/>
              </a:rPr>
              <a:t>DEPLOYMENT OF MODEL</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258" y="805926"/>
            <a:ext cx="11395332" cy="5783131"/>
          </a:xfrm>
          <a:prstGeom prst="rect">
            <a:avLst/>
          </a:prstGeom>
        </p:spPr>
      </p:pic>
    </p:spTree>
    <p:extLst>
      <p:ext uri="{BB962C8B-B14F-4D97-AF65-F5344CB8AC3E}">
        <p14:creationId xmlns:p14="http://schemas.microsoft.com/office/powerpoint/2010/main" val="2747574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2000" cy="768350"/>
          </a:xfrm>
          <a:prstGeom prst="rect">
            <a:avLst/>
          </a:prstGeom>
          <a:ln/>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IN" sz="4400" b="1" dirty="0">
                <a:latin typeface="Times New Roman" panose="02020603050405020304" pitchFamily="18" charset="0"/>
                <a:cs typeface="Times New Roman" panose="02020603050405020304" pitchFamily="18" charset="0"/>
              </a:rPr>
              <a:t>Conclusion</a:t>
            </a:r>
            <a:endParaRPr lang="en-IN" sz="4400" b="1" dirty="0">
              <a:latin typeface="Bahnschrift" panose="020B0502040204020203" pitchFamily="34" charset="0"/>
            </a:endParaRPr>
          </a:p>
        </p:txBody>
      </p:sp>
      <p:sp>
        <p:nvSpPr>
          <p:cNvPr id="3" name="TextBox 2"/>
          <p:cNvSpPr txBox="1"/>
          <p:nvPr/>
        </p:nvSpPr>
        <p:spPr>
          <a:xfrm>
            <a:off x="662152" y="1113169"/>
            <a:ext cx="10717306" cy="4199611"/>
          </a:xfrm>
          <a:prstGeom prst="rect">
            <a:avLst/>
          </a:prstGeom>
          <a:noFill/>
        </p:spPr>
        <p:txBody>
          <a:bodyPr wrap="square" rtlCol="0">
            <a:spAutoFit/>
          </a:bodyPr>
          <a:lstStyle/>
          <a:p>
            <a:pPr algn="just">
              <a:lnSpc>
                <a:spcPct val="150000"/>
              </a:lnSpc>
            </a:pPr>
            <a:r>
              <a:rPr lang="en-US" sz="2000" dirty="0"/>
              <a:t>This project focused on developing a skin disease classification system using transfer learning models such as </a:t>
            </a:r>
            <a:r>
              <a:rPr lang="en-US" sz="2000" dirty="0" err="1"/>
              <a:t>EfficientNet</a:t>
            </a:r>
            <a:r>
              <a:rPr lang="en-US" sz="2000" dirty="0"/>
              <a:t> and Vision Transformer (</a:t>
            </a:r>
            <a:r>
              <a:rPr lang="en-US" sz="2000" dirty="0" err="1"/>
              <a:t>ViT</a:t>
            </a:r>
            <a:r>
              <a:rPr lang="en-US" sz="2000" dirty="0"/>
              <a:t>). The results show that </a:t>
            </a:r>
            <a:r>
              <a:rPr lang="en-US" sz="2000" dirty="0" err="1"/>
              <a:t>EfficientNet</a:t>
            </a:r>
            <a:r>
              <a:rPr lang="en-US" sz="2000" dirty="0"/>
              <a:t> performs well on simpler datasets with fewer classes, achieving higher accuracy due to lower complexity, but its performance decreases when applied to more complex datasets with many similar classes. In contrast, the Vision Transformer model demonstrates better performance on complex data by capturing global relationships within images using self-attention mechanisms. Overall, the study highlights that model performance depends not only on the architecture but also on dataset size, diversity, and complexity, and that transformer-based models have strong potential for real-world medical image classification tasks.</a:t>
            </a:r>
          </a:p>
        </p:txBody>
      </p:sp>
    </p:spTree>
    <p:extLst>
      <p:ext uri="{BB962C8B-B14F-4D97-AF65-F5344CB8AC3E}">
        <p14:creationId xmlns:p14="http://schemas.microsoft.com/office/powerpoint/2010/main" val="298724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TextBox 1"/>
          <p:cNvSpPr txBox="1"/>
          <p:nvPr/>
        </p:nvSpPr>
        <p:spPr>
          <a:xfrm>
            <a:off x="0" y="0"/>
            <a:ext cx="12192000" cy="768350"/>
          </a:xfrm>
          <a:prstGeom prst="rect">
            <a:avLst/>
          </a:prstGeom>
          <a:ln/>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IN" sz="4400" b="1" dirty="0">
                <a:latin typeface="Times New Roman" panose="02020603050405020304" pitchFamily="18" charset="0"/>
                <a:cs typeface="Times New Roman" panose="02020603050405020304" pitchFamily="18" charset="0"/>
              </a:rPr>
              <a:t>References</a:t>
            </a:r>
            <a:endParaRPr lang="en-IN" sz="4400" b="1" dirty="0">
              <a:latin typeface="Bahnschrift" panose="020B0502040204020203" pitchFamily="34" charset="0"/>
            </a:endParaRPr>
          </a:p>
        </p:txBody>
      </p:sp>
      <p:sp>
        <p:nvSpPr>
          <p:cNvPr id="2" name="Text Box 1"/>
          <p:cNvSpPr txBox="1"/>
          <p:nvPr/>
        </p:nvSpPr>
        <p:spPr>
          <a:xfrm>
            <a:off x="459740" y="951266"/>
            <a:ext cx="10786745" cy="5701461"/>
          </a:xfrm>
          <a:prstGeom prst="rect">
            <a:avLst/>
          </a:prstGeom>
        </p:spPr>
        <p:txBody>
          <a:bodyPr>
            <a:noAutofit/>
          </a:bodyPr>
          <a:lstStyle/>
          <a:p>
            <a:pPr indent="0" algn="just">
              <a:lnSpc>
                <a:spcPct val="150000"/>
              </a:lnSpc>
              <a:buFont typeface="Wingdings" panose="05000000000000000000" charset="0"/>
              <a:buNone/>
            </a:pPr>
            <a:r>
              <a:rPr sz="1600" dirty="0">
                <a:latin typeface="Times New Roman" panose="02020603050405020304" pitchFamily="18" charset="0"/>
                <a:cs typeface="Times New Roman" panose="02020603050405020304" pitchFamily="18" charset="0"/>
              </a:rPr>
              <a:t>1</a:t>
            </a:r>
            <a:r>
              <a:rPr lang="en-IN" sz="1600" dirty="0">
                <a:latin typeface="Times New Roman" panose="02020603050405020304" pitchFamily="18" charset="0"/>
                <a:cs typeface="Times New Roman" panose="02020603050405020304" pitchFamily="18" charset="0"/>
              </a:rPr>
              <a:t>)</a:t>
            </a:r>
            <a:r>
              <a:rPr sz="1600" dirty="0">
                <a:latin typeface="Times New Roman" panose="02020603050405020304" pitchFamily="18" charset="0"/>
                <a:cs typeface="Times New Roman" panose="02020603050405020304" pitchFamily="18" charset="0"/>
              </a:rPr>
              <a:t> V. B. Kumar, S. S. Kumar and V. Saboo, "Dermatological disease detection using image </a:t>
            </a:r>
            <a:r>
              <a:rPr lang="en-IN" sz="1600"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processing</a:t>
            </a:r>
            <a:r>
              <a:rPr lang="en-IN" sz="1600"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and machine learning", 2016 Third International Conference on Artificial Intelligence and Pattern Recognition (AIPR), pp. 1-6, 2016. 10.1109/ICAIPR.2016.7585217</a:t>
            </a:r>
          </a:p>
          <a:p>
            <a:pPr indent="0" algn="just">
              <a:lnSpc>
                <a:spcPct val="150000"/>
              </a:lnSpc>
              <a:buFont typeface="Wingdings" panose="05000000000000000000" charset="0"/>
              <a:buNone/>
            </a:pPr>
            <a:r>
              <a:rPr lang="en-IN" sz="1600" dirty="0">
                <a:latin typeface="Times New Roman" panose="02020603050405020304" pitchFamily="18" charset="0"/>
                <a:cs typeface="Times New Roman" panose="02020603050405020304" pitchFamily="18" charset="0"/>
              </a:rPr>
              <a:t>2)</a:t>
            </a:r>
            <a:r>
              <a:rPr sz="1600" dirty="0">
                <a:latin typeface="Times New Roman" panose="02020603050405020304" pitchFamily="18" charset="0"/>
                <a:cs typeface="Times New Roman" panose="02020603050405020304" pitchFamily="18" charset="0"/>
              </a:rPr>
              <a:t>Ali, K.; </a:t>
            </a:r>
            <a:r>
              <a:rPr sz="1600" dirty="0" err="1">
                <a:latin typeface="Times New Roman" panose="02020603050405020304" pitchFamily="18" charset="0"/>
                <a:cs typeface="Times New Roman" panose="02020603050405020304" pitchFamily="18" charset="0"/>
              </a:rPr>
              <a:t>Shaikh</a:t>
            </a:r>
            <a:r>
              <a:rPr sz="1600" dirty="0">
                <a:latin typeface="Times New Roman" panose="02020603050405020304" pitchFamily="18" charset="0"/>
                <a:cs typeface="Times New Roman" panose="02020603050405020304" pitchFamily="18" charset="0"/>
              </a:rPr>
              <a:t>, Z.A.; Khan, A.A.; </a:t>
            </a:r>
            <a:r>
              <a:rPr sz="1600" dirty="0" err="1">
                <a:latin typeface="Times New Roman" panose="02020603050405020304" pitchFamily="18" charset="0"/>
                <a:cs typeface="Times New Roman" panose="02020603050405020304" pitchFamily="18" charset="0"/>
              </a:rPr>
              <a:t>Laghari</a:t>
            </a:r>
            <a:r>
              <a:rPr sz="1600" dirty="0">
                <a:latin typeface="Times New Roman" panose="02020603050405020304" pitchFamily="18" charset="0"/>
                <a:cs typeface="Times New Roman" panose="02020603050405020304" pitchFamily="18" charset="0"/>
              </a:rPr>
              <a:t>, A.A. Multiclass skin cancer classification using </a:t>
            </a:r>
          </a:p>
          <a:p>
            <a:pPr indent="0" algn="just">
              <a:lnSpc>
                <a:spcPct val="150000"/>
              </a:lnSpc>
              <a:buFont typeface="Wingdings" panose="05000000000000000000" charset="0"/>
              <a:buNone/>
            </a:pPr>
            <a:r>
              <a:rPr sz="1600" dirty="0" err="1">
                <a:latin typeface="Times New Roman" panose="02020603050405020304" pitchFamily="18" charset="0"/>
                <a:cs typeface="Times New Roman" panose="02020603050405020304" pitchFamily="18" charset="0"/>
              </a:rPr>
              <a:t>EfficientNets</a:t>
            </a:r>
            <a:r>
              <a:rPr sz="1600" dirty="0">
                <a:latin typeface="Times New Roman" panose="02020603050405020304" pitchFamily="18" charset="0"/>
                <a:cs typeface="Times New Roman" panose="02020603050405020304" pitchFamily="18" charset="0"/>
              </a:rPr>
              <a:t>—A first step towards preventing skin cancer. </a:t>
            </a:r>
            <a:r>
              <a:rPr sz="1600" dirty="0" err="1">
                <a:latin typeface="Times New Roman" panose="02020603050405020304" pitchFamily="18" charset="0"/>
                <a:cs typeface="Times New Roman" panose="02020603050405020304" pitchFamily="18" charset="0"/>
              </a:rPr>
              <a:t>Neurosci</a:t>
            </a:r>
            <a:r>
              <a:rPr sz="1600" dirty="0">
                <a:latin typeface="Times New Roman" panose="02020603050405020304" pitchFamily="18" charset="0"/>
                <a:cs typeface="Times New Roman" panose="02020603050405020304" pitchFamily="18" charset="0"/>
              </a:rPr>
              <a:t>. Inform. 2022, 2, 100034. </a:t>
            </a:r>
          </a:p>
          <a:p>
            <a:pPr indent="0" algn="just">
              <a:lnSpc>
                <a:spcPct val="150000"/>
              </a:lnSpc>
              <a:buFont typeface="Wingdings" panose="05000000000000000000" charset="0"/>
              <a:buNone/>
            </a:pPr>
            <a:r>
              <a:rPr lang="en-IN" sz="1600" dirty="0">
                <a:latin typeface="Times New Roman" panose="02020603050405020304" pitchFamily="18" charset="0"/>
                <a:cs typeface="Times New Roman" panose="02020603050405020304" pitchFamily="18" charset="0"/>
              </a:rPr>
              <a:t>3)</a:t>
            </a:r>
            <a:r>
              <a:rPr sz="1600" dirty="0">
                <a:latin typeface="Times New Roman" panose="02020603050405020304" pitchFamily="18" charset="0"/>
                <a:cs typeface="Times New Roman" panose="02020603050405020304" pitchFamily="18" charset="0"/>
              </a:rPr>
              <a:t> Reddy, D.A.; Roy, S.; Kumar, S.; </a:t>
            </a:r>
            <a:r>
              <a:rPr sz="1600" dirty="0" err="1">
                <a:latin typeface="Times New Roman" panose="02020603050405020304" pitchFamily="18" charset="0"/>
                <a:cs typeface="Times New Roman" panose="02020603050405020304" pitchFamily="18" charset="0"/>
              </a:rPr>
              <a:t>Tripathi</a:t>
            </a:r>
            <a:r>
              <a:rPr sz="1600" dirty="0">
                <a:latin typeface="Times New Roman" panose="02020603050405020304" pitchFamily="18" charset="0"/>
                <a:cs typeface="Times New Roman" panose="02020603050405020304" pitchFamily="18" charset="0"/>
              </a:rPr>
              <a:t>, R. A Scheme for Effective Skin Disease Detection using Optimized Region Growing Segmentation and </a:t>
            </a:r>
            <a:r>
              <a:rPr sz="1600" dirty="0" err="1">
                <a:latin typeface="Times New Roman" panose="02020603050405020304" pitchFamily="18" charset="0"/>
                <a:cs typeface="Times New Roman" panose="02020603050405020304" pitchFamily="18" charset="0"/>
              </a:rPr>
              <a:t>Autoencoder</a:t>
            </a:r>
            <a:r>
              <a:rPr sz="1600" dirty="0">
                <a:latin typeface="Times New Roman" panose="02020603050405020304" pitchFamily="18" charset="0"/>
                <a:cs typeface="Times New Roman" panose="02020603050405020304" pitchFamily="18" charset="0"/>
              </a:rPr>
              <a:t> based Classification. </a:t>
            </a:r>
            <a:r>
              <a:rPr sz="1600" dirty="0" err="1">
                <a:latin typeface="Times New Roman" panose="02020603050405020304" pitchFamily="18" charset="0"/>
                <a:cs typeface="Times New Roman" panose="02020603050405020304" pitchFamily="18" charset="0"/>
              </a:rPr>
              <a:t>Procedia</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Comput</a:t>
            </a:r>
            <a:r>
              <a:rPr sz="1600" dirty="0">
                <a:latin typeface="Times New Roman" panose="02020603050405020304" pitchFamily="18" charset="0"/>
                <a:cs typeface="Times New Roman" panose="02020603050405020304" pitchFamily="18" charset="0"/>
              </a:rPr>
              <a:t>. Sci. 2023, 218, 274–282</a:t>
            </a:r>
          </a:p>
          <a:p>
            <a:pPr indent="0" algn="just">
              <a:lnSpc>
                <a:spcPct val="150000"/>
              </a:lnSpc>
              <a:buFont typeface="Wingdings" panose="05000000000000000000" charset="0"/>
              <a:buNone/>
            </a:pPr>
            <a:r>
              <a:rPr lang="en-IN" sz="1600" dirty="0">
                <a:latin typeface="Times New Roman" panose="02020603050405020304" pitchFamily="18" charset="0"/>
                <a:cs typeface="Times New Roman" panose="02020603050405020304" pitchFamily="18" charset="0"/>
              </a:rPr>
              <a:t>4)</a:t>
            </a:r>
            <a:r>
              <a:rPr sz="1600" dirty="0">
                <a:latin typeface="Times New Roman" panose="02020603050405020304" pitchFamily="18" charset="0"/>
                <a:cs typeface="Times New Roman" panose="02020603050405020304" pitchFamily="18" charset="0"/>
              </a:rPr>
              <a:t>An Intelligent Computer-Aided Scheme for Classifying Multiple Skin Lesions by </a:t>
            </a:r>
            <a:r>
              <a:rPr sz="1600" dirty="0" err="1">
                <a:latin typeface="Times New Roman" panose="02020603050405020304" pitchFamily="18" charset="0"/>
                <a:cs typeface="Times New Roman" panose="02020603050405020304" pitchFamily="18" charset="0"/>
              </a:rPr>
              <a:t>Nazia</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Hameed</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Fozia</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Hameed</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Antesar</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Shabut</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Sehresh</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Khan,Silvia</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Cirstea,Alamgir</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Hossain</a:t>
            </a:r>
            <a:r>
              <a:rPr sz="1600" dirty="0">
                <a:latin typeface="Times New Roman" panose="02020603050405020304" pitchFamily="18" charset="0"/>
                <a:cs typeface="Times New Roman" panose="02020603050405020304" pitchFamily="18" charset="0"/>
              </a:rPr>
              <a:t> Published on 28 August 2019, https://doi.org/10.3390/computers8030062</a:t>
            </a:r>
          </a:p>
          <a:p>
            <a:pPr indent="0" algn="just">
              <a:lnSpc>
                <a:spcPct val="150000"/>
              </a:lnSpc>
              <a:buFont typeface="Wingdings" panose="05000000000000000000" charset="0"/>
              <a:buNone/>
            </a:pPr>
            <a:r>
              <a:rPr lang="en-IN" sz="1600" dirty="0">
                <a:latin typeface="Times New Roman" panose="02020603050405020304" pitchFamily="18" charset="0"/>
                <a:cs typeface="Times New Roman" panose="02020603050405020304" pitchFamily="18" charset="0"/>
              </a:rPr>
              <a:t>5)</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Shetty</a:t>
            </a:r>
            <a:r>
              <a:rPr sz="1600" dirty="0">
                <a:latin typeface="Times New Roman" panose="02020603050405020304" pitchFamily="18" charset="0"/>
                <a:cs typeface="Times New Roman" panose="02020603050405020304" pitchFamily="18" charset="0"/>
              </a:rPr>
              <a:t>, B.; </a:t>
            </a:r>
            <a:r>
              <a:rPr sz="1600" dirty="0" err="1">
                <a:latin typeface="Times New Roman" panose="02020603050405020304" pitchFamily="18" charset="0"/>
                <a:cs typeface="Times New Roman" panose="02020603050405020304" pitchFamily="18" charset="0"/>
              </a:rPr>
              <a:t>Fernandes</a:t>
            </a:r>
            <a:r>
              <a:rPr sz="1600" dirty="0">
                <a:latin typeface="Times New Roman" panose="02020603050405020304" pitchFamily="18" charset="0"/>
                <a:cs typeface="Times New Roman" panose="02020603050405020304" pitchFamily="18" charset="0"/>
              </a:rPr>
              <a:t>, R.; Rodrigues, A.P.; </a:t>
            </a:r>
            <a:r>
              <a:rPr sz="1600" dirty="0" err="1">
                <a:latin typeface="Times New Roman" panose="02020603050405020304" pitchFamily="18" charset="0"/>
                <a:cs typeface="Times New Roman" panose="02020603050405020304" pitchFamily="18" charset="0"/>
              </a:rPr>
              <a:t>Chengoden</a:t>
            </a:r>
            <a:r>
              <a:rPr sz="1600" dirty="0">
                <a:latin typeface="Times New Roman" panose="02020603050405020304" pitchFamily="18" charset="0"/>
                <a:cs typeface="Times New Roman" panose="02020603050405020304" pitchFamily="18" charset="0"/>
              </a:rPr>
              <a:t>, R.; Bhattacharya, S.; </a:t>
            </a:r>
            <a:r>
              <a:rPr sz="1600" dirty="0" err="1">
                <a:latin typeface="Times New Roman" panose="02020603050405020304" pitchFamily="18" charset="0"/>
                <a:cs typeface="Times New Roman" panose="02020603050405020304" pitchFamily="18" charset="0"/>
              </a:rPr>
              <a:t>Lakshmanna</a:t>
            </a:r>
            <a:r>
              <a:rPr sz="1600" dirty="0">
                <a:latin typeface="Times New Roman" panose="02020603050405020304" pitchFamily="18" charset="0"/>
                <a:cs typeface="Times New Roman" panose="02020603050405020304" pitchFamily="18" charset="0"/>
              </a:rPr>
              <a:t>, K. </a:t>
            </a:r>
            <a:r>
              <a:rPr lang="en-IN" sz="1600"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Skin lesion classification of </a:t>
            </a:r>
            <a:r>
              <a:rPr sz="1600" dirty="0" err="1">
                <a:latin typeface="Times New Roman" panose="02020603050405020304" pitchFamily="18" charset="0"/>
                <a:cs typeface="Times New Roman" panose="02020603050405020304" pitchFamily="18" charset="0"/>
              </a:rPr>
              <a:t>dermoscopic</a:t>
            </a:r>
            <a:r>
              <a:rPr sz="1600" dirty="0">
                <a:latin typeface="Times New Roman" panose="02020603050405020304" pitchFamily="18" charset="0"/>
                <a:cs typeface="Times New Roman" panose="02020603050405020304" pitchFamily="18" charset="0"/>
              </a:rPr>
              <a:t> images using machine learning and convolutional neural </a:t>
            </a:r>
            <a:r>
              <a:rPr lang="en-IN" sz="1600"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network. Sci. Rep. 2022, 12, 18134. ,36307467</a:t>
            </a:r>
          </a:p>
          <a:p>
            <a:pPr indent="0" algn="just">
              <a:lnSpc>
                <a:spcPct val="150000"/>
              </a:lnSpc>
              <a:buFont typeface="Wingdings" panose="05000000000000000000" charset="0"/>
              <a:buNone/>
            </a:pPr>
            <a:r>
              <a:rPr lang="en-IN" sz="1600" dirty="0">
                <a:latin typeface="Times New Roman" panose="02020603050405020304" pitchFamily="18" charset="0"/>
                <a:cs typeface="Times New Roman" panose="02020603050405020304" pitchFamily="18" charset="0"/>
              </a:rPr>
              <a:t>6) </a:t>
            </a:r>
            <a:r>
              <a:rPr sz="1600" dirty="0">
                <a:latin typeface="Times New Roman" panose="02020603050405020304" pitchFamily="18" charset="0"/>
                <a:cs typeface="Times New Roman" panose="02020603050405020304" pitchFamily="18" charset="0"/>
              </a:rPr>
              <a:t> Targeted Ensemble Machine Classification Approach for Supporting </a:t>
            </a:r>
            <a:r>
              <a:rPr sz="1600" dirty="0" err="1">
                <a:latin typeface="Times New Roman" panose="02020603050405020304" pitchFamily="18" charset="0"/>
                <a:cs typeface="Times New Roman" panose="02020603050405020304" pitchFamily="18" charset="0"/>
              </a:rPr>
              <a:t>IoT</a:t>
            </a:r>
            <a:r>
              <a:rPr sz="1600" dirty="0">
                <a:latin typeface="Times New Roman" panose="02020603050405020304" pitchFamily="18" charset="0"/>
                <a:cs typeface="Times New Roman" panose="02020603050405020304" pitchFamily="18" charset="0"/>
              </a:rPr>
              <a:t> Enabled Skin Disease </a:t>
            </a:r>
          </a:p>
          <a:p>
            <a:pPr indent="0" algn="just">
              <a:lnSpc>
                <a:spcPct val="150000"/>
              </a:lnSpc>
              <a:buFont typeface="Wingdings" panose="05000000000000000000" charset="0"/>
              <a:buNone/>
            </a:pPr>
            <a:r>
              <a:rPr lang="en-IN" sz="1600"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Detection by Hong Qing Yu And Stephan </a:t>
            </a:r>
            <a:r>
              <a:rPr sz="1600" dirty="0" err="1">
                <a:latin typeface="Times New Roman" panose="02020603050405020304" pitchFamily="18" charset="0"/>
                <a:cs typeface="Times New Roman" panose="02020603050405020304" pitchFamily="18" charset="0"/>
              </a:rPr>
              <a:t>Reiff-Marganiec</a:t>
            </a:r>
            <a:r>
              <a:rPr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7)</a:t>
            </a:r>
            <a:r>
              <a:rPr lang="en-US" sz="1600" dirty="0"/>
              <a:t> Hsu, B.W.Y.; Tseng, V.S. Hierarchy-aware contrastive learning with late fusion for skin lesion classification. </a:t>
            </a:r>
            <a:r>
              <a:rPr lang="en-US" sz="1600" dirty="0" err="1"/>
              <a:t>Comput</a:t>
            </a:r>
            <a:r>
              <a:rPr lang="en-US" sz="1600" dirty="0"/>
              <a:t>. Methods Programs Biomed. 2022, 216, 106666. </a:t>
            </a:r>
            <a:r>
              <a:rPr lang="en-US" sz="1600" b="1" u="sng" dirty="0">
                <a:hlinkClick r:id="rId2"/>
              </a:rPr>
              <a:t>https://doi.org/10.1016/j.cmpb.2022.106666</a:t>
            </a:r>
            <a:endParaRPr lang="en-US" sz="1600" dirty="0"/>
          </a:p>
          <a:p>
            <a:pPr indent="0" algn="just">
              <a:buFont typeface="Wingdings" panose="05000000000000000000" charset="0"/>
              <a:buNone/>
            </a:pP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01CE7-0AAF-5A60-E63D-C45BC4CCCF09}"/>
            </a:ext>
          </a:extLst>
        </p:cNvPr>
        <p:cNvGrpSpPr/>
        <p:nvPr/>
      </p:nvGrpSpPr>
      <p:grpSpPr>
        <a:xfrm>
          <a:off x="0" y="0"/>
          <a:ext cx="0" cy="0"/>
          <a:chOff x="0" y="0"/>
          <a:chExt cx="0" cy="0"/>
        </a:xfrm>
      </p:grpSpPr>
      <p:sp>
        <p:nvSpPr>
          <p:cNvPr id="1048599" name="TextBox 1">
            <a:extLst>
              <a:ext uri="{FF2B5EF4-FFF2-40B4-BE49-F238E27FC236}">
                <a16:creationId xmlns:a16="http://schemas.microsoft.com/office/drawing/2014/main" id="{BBAACB37-E370-A7F2-D191-530A4540E19D}"/>
              </a:ext>
            </a:extLst>
          </p:cNvPr>
          <p:cNvSpPr txBox="1"/>
          <p:nvPr/>
        </p:nvSpPr>
        <p:spPr>
          <a:xfrm>
            <a:off x="0" y="0"/>
            <a:ext cx="12192000" cy="768350"/>
          </a:xfrm>
          <a:prstGeom prst="rect">
            <a:avLst/>
          </a:prstGeom>
          <a:ln/>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IN" sz="4400" b="1" dirty="0">
                <a:latin typeface="Times New Roman" panose="02020603050405020304" pitchFamily="18" charset="0"/>
                <a:cs typeface="Times New Roman" panose="02020603050405020304" pitchFamily="18" charset="0"/>
              </a:rPr>
              <a:t>References</a:t>
            </a:r>
            <a:endParaRPr lang="en-IN" sz="4400" b="1" dirty="0">
              <a:latin typeface="Bahnschrift" panose="020B0502040204020203" pitchFamily="34" charset="0"/>
            </a:endParaRPr>
          </a:p>
        </p:txBody>
      </p:sp>
      <p:sp>
        <p:nvSpPr>
          <p:cNvPr id="2" name="Text Box 1">
            <a:extLst>
              <a:ext uri="{FF2B5EF4-FFF2-40B4-BE49-F238E27FC236}">
                <a16:creationId xmlns:a16="http://schemas.microsoft.com/office/drawing/2014/main" id="{07201E2E-A638-F477-91D2-49CDB46FAF9F}"/>
              </a:ext>
            </a:extLst>
          </p:cNvPr>
          <p:cNvSpPr txBox="1"/>
          <p:nvPr/>
        </p:nvSpPr>
        <p:spPr>
          <a:xfrm>
            <a:off x="0" y="790592"/>
            <a:ext cx="12059920" cy="5915007"/>
          </a:xfrm>
          <a:prstGeom prst="rect">
            <a:avLst/>
          </a:prstGeom>
        </p:spPr>
        <p:txBody>
          <a:bodyPr>
            <a:noAutofit/>
          </a:bodyPr>
          <a:lstStyle/>
          <a:p>
            <a:pPr>
              <a:lnSpc>
                <a:spcPct val="150000"/>
              </a:lnSpc>
            </a:pPr>
            <a:r>
              <a:rPr lang="en-IN" dirty="0"/>
              <a:t>[1] Nirupama and </a:t>
            </a:r>
            <a:r>
              <a:rPr lang="en-IN" dirty="0" err="1"/>
              <a:t>Virupakshappa</a:t>
            </a:r>
            <a:r>
              <a:rPr lang="en-IN" dirty="0"/>
              <a:t> (2024), </a:t>
            </a:r>
            <a:r>
              <a:rPr lang="en-IN" i="1" dirty="0"/>
              <a:t>“MobileNet-V2: An Enhanced Skin Disease Classification by Attention and Multi-Scale Features,”</a:t>
            </a:r>
            <a:r>
              <a:rPr lang="en-IN" dirty="0"/>
              <a:t> </a:t>
            </a:r>
            <a:r>
              <a:rPr lang="en-IN" i="1" dirty="0"/>
              <a:t>Journal of Imaging Informatics in Medicine</a:t>
            </a:r>
            <a:r>
              <a:rPr lang="en-IN" dirty="0"/>
              <a:t>, vol. 38, pp. 1734–1754. DOI:10.1007/s10278-024-01271-y</a:t>
            </a:r>
            <a:r>
              <a:rPr lang="en-IN" dirty="0">
                <a:hlinkClick r:id="rId2"/>
              </a:rPr>
              <a:t>[1]</a:t>
            </a:r>
            <a:r>
              <a:rPr lang="en-IN" dirty="0">
                <a:hlinkClick r:id="rId3"/>
              </a:rPr>
              <a:t>[2]</a:t>
            </a:r>
            <a:r>
              <a:rPr lang="en-IN" dirty="0"/>
              <a:t>.</a:t>
            </a:r>
            <a:br>
              <a:rPr lang="en-IN" dirty="0"/>
            </a:br>
            <a:r>
              <a:rPr lang="en-IN" dirty="0"/>
              <a:t>[2] H. Liu et al. (2025), </a:t>
            </a:r>
            <a:r>
              <a:rPr lang="en-IN" i="1" dirty="0"/>
              <a:t>“A skin disease classification model based on multi-scale combined efficient channel attention module,”</a:t>
            </a:r>
            <a:r>
              <a:rPr lang="en-IN" dirty="0"/>
              <a:t> </a:t>
            </a:r>
            <a:r>
              <a:rPr lang="en-IN" i="1" dirty="0"/>
              <a:t>Scientific Reports</a:t>
            </a:r>
            <a:r>
              <a:rPr lang="en-IN" dirty="0"/>
              <a:t>, vol. 15, 2025. DOI:10.1038/s41598-025-00000-0</a:t>
            </a:r>
            <a:r>
              <a:rPr lang="en-IN" dirty="0">
                <a:hlinkClick r:id="rId4"/>
              </a:rPr>
              <a:t>[3]</a:t>
            </a:r>
            <a:r>
              <a:rPr lang="en-IN" dirty="0">
                <a:hlinkClick r:id="rId5"/>
              </a:rPr>
              <a:t>[4]</a:t>
            </a:r>
            <a:r>
              <a:rPr lang="en-IN" dirty="0"/>
              <a:t>.</a:t>
            </a:r>
            <a:br>
              <a:rPr lang="en-IN" dirty="0"/>
            </a:br>
            <a:r>
              <a:rPr lang="en-IN" dirty="0"/>
              <a:t>[3] P.N. Srinivasu et al. (2021), </a:t>
            </a:r>
            <a:r>
              <a:rPr lang="en-IN" i="1" dirty="0"/>
              <a:t>“Classification of Skin Disease Using Deep Learning Neural Networks with </a:t>
            </a:r>
            <a:r>
              <a:rPr lang="en-IN" i="1" dirty="0" err="1"/>
              <a:t>MobileNet</a:t>
            </a:r>
            <a:r>
              <a:rPr lang="en-IN" i="1" dirty="0"/>
              <a:t> V2 and LSTM,”</a:t>
            </a:r>
            <a:r>
              <a:rPr lang="en-IN" dirty="0"/>
              <a:t> </a:t>
            </a:r>
            <a:r>
              <a:rPr lang="en-IN" i="1" dirty="0"/>
              <a:t>Sensors</a:t>
            </a:r>
            <a:r>
              <a:rPr lang="en-IN" dirty="0"/>
              <a:t>, vol. 21, no. 8, 2852 (2021). DOI:10.3390/s21082852</a:t>
            </a:r>
            <a:r>
              <a:rPr lang="en-IN" dirty="0">
                <a:hlinkClick r:id="rId6"/>
              </a:rPr>
              <a:t>[6]</a:t>
            </a:r>
            <a:r>
              <a:rPr lang="en-IN" dirty="0">
                <a:hlinkClick r:id="rId7"/>
              </a:rPr>
              <a:t>[7]</a:t>
            </a:r>
            <a:r>
              <a:rPr lang="en-IN" dirty="0"/>
              <a:t>.</a:t>
            </a:r>
            <a:br>
              <a:rPr lang="en-IN" dirty="0"/>
            </a:br>
            <a:r>
              <a:rPr lang="en-IN" dirty="0"/>
              <a:t>[4] J. Vieira, F. Mendonça, and F. Morgado-Dias (2025), </a:t>
            </a:r>
            <a:r>
              <a:rPr lang="en-IN" i="1" dirty="0"/>
              <a:t>“Deep Learning Approaches for Skin Lesion Detection,”</a:t>
            </a:r>
            <a:r>
              <a:rPr lang="en-IN" dirty="0"/>
              <a:t> </a:t>
            </a:r>
            <a:r>
              <a:rPr lang="en-IN" i="1" dirty="0"/>
              <a:t>Electronics</a:t>
            </a:r>
            <a:r>
              <a:rPr lang="en-IN" dirty="0"/>
              <a:t>, vol. 14, 2785 (2025). DOI:10.3390/electronics14142785</a:t>
            </a:r>
            <a:r>
              <a:rPr lang="en-IN" dirty="0">
                <a:hlinkClick r:id="rId8"/>
              </a:rPr>
              <a:t>[10]</a:t>
            </a:r>
            <a:r>
              <a:rPr lang="en-IN" dirty="0">
                <a:hlinkClick r:id="rId9"/>
              </a:rPr>
              <a:t>[11]</a:t>
            </a:r>
            <a:r>
              <a:rPr lang="en-IN" dirty="0"/>
              <a:t>.</a:t>
            </a:r>
            <a:br>
              <a:rPr lang="en-IN" dirty="0"/>
            </a:br>
            <a:r>
              <a:rPr lang="en-IN" dirty="0"/>
              <a:t>[5] S.G. Malik et al. (2024), </a:t>
            </a:r>
            <a:r>
              <a:rPr lang="en-IN" i="1" dirty="0"/>
              <a:t>“High-Precision Skin Disease Diagnosis through Deep Learning on </a:t>
            </a:r>
            <a:r>
              <a:rPr lang="en-IN" i="1" dirty="0" err="1"/>
              <a:t>Dermoscopic</a:t>
            </a:r>
            <a:r>
              <a:rPr lang="en-IN" i="1" dirty="0"/>
              <a:t> Images,”</a:t>
            </a:r>
            <a:r>
              <a:rPr lang="en-IN" dirty="0"/>
              <a:t> </a:t>
            </a:r>
            <a:r>
              <a:rPr lang="en-IN" i="1" dirty="0"/>
              <a:t>Bioengineering</a:t>
            </a:r>
            <a:r>
              <a:rPr lang="en-IN" dirty="0"/>
              <a:t> 11(9):867. DOI:10.3390/bioengineering11090867</a:t>
            </a:r>
            <a:r>
              <a:rPr lang="en-IN" dirty="0">
                <a:hlinkClick r:id="rId10"/>
              </a:rPr>
              <a:t>[14]</a:t>
            </a:r>
            <a:r>
              <a:rPr lang="en-IN" dirty="0">
                <a:hlinkClick r:id="rId11"/>
              </a:rPr>
              <a:t>[15]</a:t>
            </a:r>
            <a:r>
              <a:rPr lang="en-IN" dirty="0"/>
              <a:t>.</a:t>
            </a:r>
            <a:br>
              <a:rPr lang="en-IN" dirty="0"/>
            </a:br>
            <a:r>
              <a:rPr lang="en-IN" dirty="0"/>
              <a:t>[6] N. Ahmad et al. (2023), </a:t>
            </a:r>
            <a:r>
              <a:rPr lang="en-IN" i="1" dirty="0"/>
              <a:t>“A novel framework of multiclass skin lesion recognition from </a:t>
            </a:r>
            <a:r>
              <a:rPr lang="en-IN" i="1" dirty="0" err="1"/>
              <a:t>dermoscopic</a:t>
            </a:r>
            <a:r>
              <a:rPr lang="en-IN" i="1" dirty="0"/>
              <a:t> images using deep learning and explainable AI,”</a:t>
            </a:r>
            <a:r>
              <a:rPr lang="en-IN" dirty="0"/>
              <a:t> </a:t>
            </a:r>
            <a:r>
              <a:rPr lang="en-IN" i="1" dirty="0"/>
              <a:t>Frontiers in Oncology</a:t>
            </a:r>
            <a:r>
              <a:rPr lang="en-IN" dirty="0"/>
              <a:t>, vol. 13, 1151257 (2023). DOI:10.3389/fonc.2023.1151257</a:t>
            </a:r>
            <a:r>
              <a:rPr lang="en-IN" dirty="0">
                <a:hlinkClick r:id="rId12"/>
              </a:rPr>
              <a:t>[19]</a:t>
            </a:r>
            <a:r>
              <a:rPr lang="en-IN" dirty="0">
                <a:hlinkClick r:id="rId13"/>
              </a:rPr>
              <a:t>[20]</a:t>
            </a:r>
            <a:r>
              <a:rPr lang="en-IN" dirty="0"/>
              <a:t>.</a:t>
            </a:r>
            <a:br>
              <a:rPr lang="en-IN" dirty="0"/>
            </a:br>
            <a:r>
              <a:rPr lang="en-IN" dirty="0"/>
              <a:t>[7] A. Newaz et al. (2025), </a:t>
            </a:r>
            <a:r>
              <a:rPr lang="en-IN" i="1" dirty="0"/>
              <a:t>“Toward Accessible Dermatology: Skin Lesion Classification Using Deep Learning Models on Mobile-Acquired Images,”</a:t>
            </a:r>
            <a:r>
              <a:rPr lang="en-IN" dirty="0"/>
              <a:t> </a:t>
            </a:r>
            <a:r>
              <a:rPr lang="en-IN" i="1" dirty="0" err="1"/>
              <a:t>arXiv</a:t>
            </a:r>
            <a:r>
              <a:rPr lang="en-IN" dirty="0"/>
              <a:t> preprint 2509.04800 (2025). [Online]. Available: https://arxiv.org/abs/2509.04800</a:t>
            </a:r>
            <a:r>
              <a:rPr lang="en-IN" dirty="0">
                <a:hlinkClick r:id="rId14"/>
              </a:rPr>
              <a:t>[21]</a:t>
            </a:r>
            <a:r>
              <a:rPr lang="en-IN" dirty="0">
                <a:hlinkClick r:id="rId15"/>
              </a:rPr>
              <a:t>[22]</a:t>
            </a:r>
            <a:r>
              <a:rPr lang="en-IN" dirty="0"/>
              <a:t>.</a:t>
            </a:r>
          </a:p>
          <a:p>
            <a:pPr indent="0" algn="just">
              <a:buFont typeface="Wingdings" panose="05000000000000000000" charset="0"/>
              <a:buNone/>
            </a:pP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8703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F9013-94C7-343F-653C-F5A10FF123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4CD4D3-0D50-89AC-9061-F59507C0E7CE}"/>
              </a:ext>
            </a:extLst>
          </p:cNvPr>
          <p:cNvSpPr txBox="1"/>
          <p:nvPr/>
        </p:nvSpPr>
        <p:spPr>
          <a:xfrm>
            <a:off x="3665052" y="2625021"/>
            <a:ext cx="5152051" cy="1477328"/>
          </a:xfrm>
          <a:prstGeom prst="rect">
            <a:avLst/>
          </a:prstGeom>
          <a:noFill/>
        </p:spPr>
        <p:txBody>
          <a:bodyPr wrap="none" rtlCol="0">
            <a:spAutoFit/>
          </a:bodyPr>
          <a:lstStyle/>
          <a:p>
            <a:r>
              <a:rPr lang="en-IN" sz="7200" b="1" dirty="0">
                <a:latin typeface="Times New Roman" panose="02020603050405020304" pitchFamily="18" charset="0"/>
                <a:cs typeface="Times New Roman" panose="02020603050405020304" pitchFamily="18" charset="0"/>
              </a:rPr>
              <a:t>Thank You!!</a:t>
            </a:r>
          </a:p>
          <a:p>
            <a:endParaRPr lang="en-IN" dirty="0"/>
          </a:p>
        </p:txBody>
      </p:sp>
      <p:sp>
        <p:nvSpPr>
          <p:cNvPr id="4" name="TextBox 1">
            <a:extLst>
              <a:ext uri="{FF2B5EF4-FFF2-40B4-BE49-F238E27FC236}">
                <a16:creationId xmlns:a16="http://schemas.microsoft.com/office/drawing/2014/main" id="{EFA8CE76-EA3E-7992-2F40-DA980C34ED25}"/>
              </a:ext>
            </a:extLst>
          </p:cNvPr>
          <p:cNvSpPr txBox="1"/>
          <p:nvPr/>
        </p:nvSpPr>
        <p:spPr>
          <a:xfrm>
            <a:off x="0" y="0"/>
            <a:ext cx="12192000" cy="768350"/>
          </a:xfrm>
          <a:prstGeom prst="rect">
            <a:avLst/>
          </a:prstGeom>
          <a:ln/>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endParaRPr lang="en-IN" sz="4400" b="1" dirty="0">
              <a:latin typeface="Bahnschrift" panose="020B0502040204020203" pitchFamily="34" charset="0"/>
            </a:endParaRPr>
          </a:p>
        </p:txBody>
      </p:sp>
      <p:sp>
        <p:nvSpPr>
          <p:cNvPr id="5" name="TextBox 1">
            <a:extLst>
              <a:ext uri="{FF2B5EF4-FFF2-40B4-BE49-F238E27FC236}">
                <a16:creationId xmlns:a16="http://schemas.microsoft.com/office/drawing/2014/main" id="{E6893F08-FA34-E58F-FE60-7E4E439D8BFB}"/>
              </a:ext>
            </a:extLst>
          </p:cNvPr>
          <p:cNvSpPr txBox="1"/>
          <p:nvPr/>
        </p:nvSpPr>
        <p:spPr>
          <a:xfrm>
            <a:off x="0" y="6089650"/>
            <a:ext cx="12192000" cy="768350"/>
          </a:xfrm>
          <a:prstGeom prst="rect">
            <a:avLst/>
          </a:prstGeom>
          <a:ln/>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endParaRPr lang="en-IN" sz="4400" b="1" dirty="0">
              <a:latin typeface="Bahnschrift" panose="020B0502040204020203" pitchFamily="34" charset="0"/>
            </a:endParaRPr>
          </a:p>
        </p:txBody>
      </p:sp>
    </p:spTree>
    <p:extLst>
      <p:ext uri="{BB962C8B-B14F-4D97-AF65-F5344CB8AC3E}">
        <p14:creationId xmlns:p14="http://schemas.microsoft.com/office/powerpoint/2010/main" val="2495823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2086</TotalTime>
  <Words>1674</Words>
  <Application>Microsoft Office PowerPoint</Application>
  <PresentationFormat>Widescreen</PresentationFormat>
  <Paragraphs>149</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Arial Unicode MS</vt:lpstr>
      <vt:lpstr>Bahnschrift</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hhbh</vt:lpstr>
      <vt:lpstr>PowerPoint Presentation</vt:lpstr>
      <vt:lpstr>PowerPoint Presentation</vt:lpstr>
      <vt:lpstr>PowerPoint Presentation</vt:lpstr>
      <vt:lpstr>Proposed Method for skin Diseases Classification</vt:lpstr>
      <vt:lpstr>Proposed Method for skin Diseases Classification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Jayshree Kulkarni</dc:creator>
  <cp:lastModifiedBy>Nikita Shinde</cp:lastModifiedBy>
  <cp:revision>214</cp:revision>
  <dcterms:created xsi:type="dcterms:W3CDTF">2024-10-18T05:45:00Z</dcterms:created>
  <dcterms:modified xsi:type="dcterms:W3CDTF">2026-04-20T07:30:02Z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3D6FC4D8094C40F29D7F43D5EC719F8A_12</vt:lpwstr>
  </property>
  <property fmtid="{D5CDD505-2E9C-101B-9397-08002B2CF9AE}" pid="3" name="KSOProductBuildVer">
    <vt:lpwstr>1033-12.2.0.18607</vt:lpwstr>
  </property>
</Properties>
</file>